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 strictFirstAndLastChars="0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2" d="100"/>
          <a:sy n="62" d="100"/>
        </p:scale>
        <p:origin x="804" y="4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195951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816437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1" hdr="0" sldNum="1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765480" name="Google Shape;1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707205" name="Google Shape;13;p1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1175461" name="Google Shape;14;p1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576182" name="Google Shape;23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3944335" name="Google Shape;24;p2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3634828" name="Google Shape;25;p2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205238" name="Google Shape;37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4636107" name="Google Shape;38;p3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6624388" name="Google Shape;39;p3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307168" name="Google Shape;154;p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493408" name="Google Shape;155;p8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41670471" name="Google Shape;156;p8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466890" name="Google Shape;50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1835389" name="Google Shape;51;p4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807386" name="Google Shape;52;p4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594557" name="Google Shape;84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6149206" name="Google Shape;85;p5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19983032" name="Google Shape;86;p5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991087" name="Google Shape;49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9921840" name="Google Shape;50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5461808" name="Google Shape;51;p3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013399" name="Google Shape;146;p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4996389" name="Google Shape;147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36627949" name="Google Shape;148;p6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79298" name="Google Shape;132;p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2508333" name="Google Shape;133;p7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57142902" name="Google Shape;134;p7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07716" name="Google Shape;198;p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413025" name="Google Shape;199;p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21008167" name="Google Shape;200;p8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87194" name="Google Shape;180;p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3076699" name="Google Shape;181;p9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95483382" name="Google Shape;182;p9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206860" name="Google Shape;193;p1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166813" y="0"/>
            <a:ext cx="5334000" cy="30003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6173433" name="Google Shape;194;p10:notes"/>
          <p:cNvSpPr txBox="1">
            <a:spLocks noGrp="1"/>
          </p:cNvSpPr>
          <p:nvPr>
            <p:ph type="body" idx="1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0355558" name="Google Shape;195;p10:notes"/>
          <p:cNvSpPr txBox="1">
            <a:spLocks noGrp="1"/>
          </p:cNvSpPr>
          <p:nvPr>
            <p:ph type="sldNum" idx="12"/>
          </p:nvPr>
        </p:nvSpPr>
        <p:spPr bwMode="auto"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3">
            <a:alphaModFix amt="47000"/>
            <a:lum/>
          </a:blip>
          <a:stretch>
            <a:fillRect l="-2000" t="0" r="-2000" b="0"/>
          </a:stretch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dt="0" ftr="1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6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834909" name="Google Shape;16;p4"/>
          <p:cNvSpPr/>
          <p:nvPr/>
        </p:nvSpPr>
        <p:spPr bwMode="auto">
          <a:xfrm>
            <a:off x="451466" y="-44523"/>
            <a:ext cx="11383308" cy="4893785"/>
          </a:xfrm>
          <a:prstGeom prst="roundRect">
            <a:avLst>
              <a:gd name="adj" fmla="val 338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</a:gra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7589643" name="Google Shape;17;p4"/>
          <p:cNvSpPr/>
          <p:nvPr/>
        </p:nvSpPr>
        <p:spPr bwMode="auto">
          <a:xfrm>
            <a:off x="649587" y="2309973"/>
            <a:ext cx="11185187" cy="15544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7246A3"/>
              </a:buClr>
              <a:buSzPts val="4800"/>
              <a:buFont typeface="Arial"/>
              <a:buNone/>
              <a:defRPr/>
            </a:pPr>
            <a:r>
              <a:rPr lang="en-GB" sz="4800" b="1" i="0" u="none" strike="noStrike" cap="none">
                <a:solidFill>
                  <a:srgbClr val="7246A3"/>
                </a:solidFill>
                <a:latin typeface="OCR A Extended"/>
              </a:rPr>
              <a:t>Building an Omics Data Discovery Pipeline</a:t>
            </a:r>
            <a:r>
              <a:rPr lang="en-US" sz="4800" b="1" i="0" u="none" strike="noStrike" cap="none">
                <a:solidFill>
                  <a:srgbClr val="7246A3"/>
                </a:solidFill>
                <a:latin typeface="OCR A Extended"/>
              </a:rPr>
              <a:t>  </a:t>
            </a:r>
            <a:endParaRPr sz="4800" b="0" i="0" u="none" strike="noStrike" cap="none">
              <a:solidFill>
                <a:srgbClr val="7246A3"/>
              </a:solidFill>
              <a:latin typeface="OCR A Extended"/>
            </a:endParaRPr>
          </a:p>
        </p:txBody>
      </p:sp>
      <p:sp>
        <p:nvSpPr>
          <p:cNvPr id="1554919922" name="Google Shape;18;p4"/>
          <p:cNvSpPr/>
          <p:nvPr/>
        </p:nvSpPr>
        <p:spPr bwMode="auto">
          <a:xfrm>
            <a:off x="530828" y="5511675"/>
            <a:ext cx="10515600" cy="78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2C7"/>
              </a:buClr>
              <a:buSzPts val="2400"/>
              <a:buFont typeface="Arial"/>
              <a:buNone/>
              <a:defRPr/>
            </a:pPr>
            <a:r>
              <a:rPr lang="en-GB" sz="4400" b="1" i="0" u="none" strike="noStrike" cap="none">
                <a:solidFill>
                  <a:srgbClr val="F4EEF8"/>
                </a:solidFill>
                <a:latin typeface="OCR A Extended"/>
              </a:rPr>
              <a:t>Presentation by </a:t>
            </a:r>
            <a:r>
              <a:rPr lang="en-US" sz="4400" b="1" i="0" u="none" strike="noStrike" cap="none">
                <a:solidFill>
                  <a:srgbClr val="F4EEF8"/>
                </a:solidFill>
                <a:latin typeface="OCR A Extended"/>
              </a:rPr>
              <a:t>Amarachi Njoku</a:t>
            </a:r>
            <a:endParaRPr lang="en-US" sz="4400" b="1" i="0" u="none" strike="noStrike" cap="none">
              <a:solidFill>
                <a:srgbClr val="F4EEF8"/>
              </a:solidFill>
              <a:latin typeface="OCR A Exte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2C7"/>
              </a:buClr>
              <a:buSzPts val="2400"/>
              <a:buFont typeface="Arial"/>
              <a:buNone/>
              <a:defRPr/>
            </a:pPr>
            <a:r>
              <a:rPr lang="en-GB" sz="2800" b="1" i="0" u="none" strike="noStrike" cap="none">
                <a:solidFill>
                  <a:srgbClr val="F4EEF8"/>
                </a:solidFill>
                <a:latin typeface="OCR A Extended"/>
              </a:rPr>
              <a:t>Project Lead Alieyeh Sarabandi</a:t>
            </a:r>
            <a:r>
              <a:rPr lang="en-US" sz="4400" b="1" i="0" u="none" strike="noStrike" cap="none">
                <a:solidFill>
                  <a:srgbClr val="F4EEF8"/>
                </a:solidFill>
                <a:latin typeface="OCR A Extended"/>
              </a:rPr>
              <a:t>   </a:t>
            </a:r>
            <a:endParaRPr sz="4400" b="1" i="0" u="none" strike="noStrike" cap="none">
              <a:solidFill>
                <a:srgbClr val="F4EEF8"/>
              </a:solidFill>
              <a:latin typeface="OCR A Extended"/>
            </a:endParaRPr>
          </a:p>
        </p:txBody>
      </p:sp>
      <p:pic>
        <p:nvPicPr>
          <p:cNvPr id="2008801988" name="Google Shape;20;p4"/>
          <p:cNvPicPr/>
          <p:nvPr/>
        </p:nvPicPr>
        <p:blipFill rotWithShape="1">
          <a:blip r:embed="rId4">
            <a:alphaModFix/>
          </a:blip>
          <a:srcRect l="0" t="0" r="29819" b="0"/>
          <a:stretch/>
        </p:blipFill>
        <p:spPr bwMode="auto">
          <a:xfrm>
            <a:off x="9678262" y="342951"/>
            <a:ext cx="1982909" cy="592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781184" name="Picture 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0828" y="-3426"/>
            <a:ext cx="2726079" cy="1554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48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53853" name="Google Shape;31;p5"/>
          <p:cNvSpPr/>
          <p:nvPr/>
        </p:nvSpPr>
        <p:spPr bwMode="auto">
          <a:xfrm>
            <a:off x="289883" y="1691639"/>
            <a:ext cx="6316400" cy="3229681"/>
          </a:xfrm>
          <a:prstGeom prst="roundRect">
            <a:avLst>
              <a:gd name="adj" fmla="val 3243"/>
            </a:avLst>
          </a:prstGeom>
          <a:solidFill>
            <a:srgbClr val="F4EEF8">
              <a:alpha val="86000"/>
            </a:srgbClr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2691659" name="Google Shape;28;p5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400"/>
              <a:buFont typeface="Arial"/>
              <a:buNone/>
              <a:defRPr/>
            </a:pPr>
            <a:r>
              <a:rPr lang="en-US" sz="14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THE PROBLEM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3113140" name="Google Shape;29;p5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Dementia research needs data it can't easily find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4109148" name="Google Shape;30;p5"/>
          <p:cNvSpPr/>
          <p:nvPr/>
        </p:nvSpPr>
        <p:spPr bwMode="auto">
          <a:xfrm>
            <a:off x="289883" y="1965960"/>
            <a:ext cx="62276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2000"/>
              <a:buFont typeface="Arial"/>
              <a:buChar char="•"/>
              <a:defRPr/>
            </a:pPr>
            <a:r>
              <a:rPr lang="en-US" sz="2000">
                <a:solidFill>
                  <a:srgbClr val="2E2438"/>
                </a:solidFill>
                <a:latin typeface="Arial"/>
                <a:ea typeface="Arial"/>
                <a:cs typeface="Arial"/>
              </a:rPr>
              <a:t>DPUK holds a huge amount of genetic data donated for dementia research, five different types, across many studies.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E2438"/>
              </a:buClr>
              <a:buSzPts val="2000"/>
              <a:buFont typeface="Arial"/>
              <a:buChar char="•"/>
              <a:defRPr/>
            </a:pPr>
            <a:r>
              <a:rPr lang="en-US" sz="2000">
                <a:solidFill>
                  <a:srgbClr val="2E2438"/>
                </a:solidFill>
                <a:latin typeface="Arial"/>
                <a:ea typeface="Arial"/>
                <a:cs typeface="Arial"/>
              </a:rPr>
              <a:t>Researchers can lose weeks just working out what data exists and whether it's relevant to them.</a:t>
            </a:r>
            <a:endParaRPr/>
          </a:p>
          <a:p>
            <a:pPr marL="342900" indent="-342900">
              <a:spcBef>
                <a:spcPts val="1000"/>
              </a:spcBef>
              <a:buClr>
                <a:srgbClr val="2E2438"/>
              </a:buClr>
              <a:buSzPts val="2000"/>
              <a:buFont typeface="Arial"/>
              <a:buChar char="•"/>
              <a:defRPr/>
            </a:pPr>
            <a:r>
              <a:rPr lang="en-GB" sz="2000">
                <a:solidFill>
                  <a:srgbClr val="2E2438"/>
                </a:solidFill>
                <a:latin typeface="Arial"/>
                <a:ea typeface="Arial"/>
                <a:cs typeface="Arial"/>
              </a:rPr>
              <a:t>But the descriptions of that data are inconsistent, buried in filenames, spread across documents, or missing.</a:t>
            </a:r>
            <a:endParaRPr lang="en-GB"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R="0" lvl="0" algn="l" rtl="0">
              <a:spcBef>
                <a:spcPts val="1000"/>
              </a:spcBef>
              <a:spcAft>
                <a:spcPts val="0"/>
              </a:spcAft>
              <a:buClr>
                <a:srgbClr val="2E2438"/>
              </a:buClr>
              <a:buSzPts val="2000"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0223808" name="Google Shape;31;p5"/>
          <p:cNvSpPr/>
          <p:nvPr/>
        </p:nvSpPr>
        <p:spPr bwMode="auto">
          <a:xfrm>
            <a:off x="6949440" y="1965960"/>
            <a:ext cx="4572000" cy="3890310"/>
          </a:xfrm>
          <a:prstGeom prst="roundRect">
            <a:avLst>
              <a:gd name="adj" fmla="val 3243"/>
            </a:avLst>
          </a:prstGeom>
          <a:solidFill>
            <a:srgbClr val="2B1B3D">
              <a:alpha val="86000"/>
            </a:srgbClr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8469900" name="Google Shape;32;p5"/>
          <p:cNvSpPr/>
          <p:nvPr/>
        </p:nvSpPr>
        <p:spPr bwMode="auto">
          <a:xfrm>
            <a:off x="6974730" y="1984441"/>
            <a:ext cx="4458003" cy="64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Think of a library with no catalogue ~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918082" name="Google Shape;33;p5"/>
          <p:cNvSpPr/>
          <p:nvPr/>
        </p:nvSpPr>
        <p:spPr bwMode="auto">
          <a:xfrm>
            <a:off x="7130265" y="2903220"/>
            <a:ext cx="43024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CCE8"/>
              </a:buClr>
              <a:buSzPts val="2000"/>
              <a:buFont typeface="Arial"/>
              <a:buNone/>
              <a:defRPr/>
            </a:pPr>
            <a:r>
              <a:rPr lang="en-US" sz="2000">
                <a:solidFill>
                  <a:srgbClr val="D9CCE8"/>
                </a:solidFill>
                <a:latin typeface="OCR A Extended"/>
              </a:rPr>
              <a:t>The books exist. But without a system to search them, finding the right one means checking every shelf by hand.</a:t>
            </a:r>
            <a:endParaRPr sz="2000">
              <a:solidFill>
                <a:schemeClr val="dk1"/>
              </a:solidFill>
              <a:latin typeface="OCR A Extended"/>
            </a:endParaRPr>
          </a:p>
        </p:txBody>
      </p:sp>
      <p:sp>
        <p:nvSpPr>
          <p:cNvPr id="2050574052" name="Google Shape;34;p5"/>
          <p:cNvSpPr/>
          <p:nvPr/>
        </p:nvSpPr>
        <p:spPr bwMode="auto">
          <a:xfrm>
            <a:off x="7130265" y="4495792"/>
            <a:ext cx="419972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Arial"/>
              <a:buNone/>
              <a:defRPr/>
            </a:pPr>
            <a:r>
              <a:rPr lang="en-US" sz="2000" i="1">
                <a:solidFill>
                  <a:srgbClr val="D9A441"/>
                </a:solidFill>
                <a:latin typeface="OCR A Extended"/>
              </a:rPr>
              <a:t>That's DPUK's genetic data today,  and my project builds the catalogue.</a:t>
            </a:r>
            <a:endParaRPr sz="2000">
              <a:solidFill>
                <a:schemeClr val="dk1"/>
              </a:solidFill>
              <a:latin typeface="OCR A Extended"/>
            </a:endParaRPr>
          </a:p>
        </p:txBody>
      </p:sp>
      <p:sp>
        <p:nvSpPr>
          <p:cNvPr id="1641852877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gradFill>
            <a:gsLst>
              <a:gs pos="0">
                <a:srgbClr val="F4EEF8">
                  <a:shade val="30000"/>
                  <a:satMod val="115000"/>
                </a:srgbClr>
              </a:gs>
              <a:gs pos="50000">
                <a:srgbClr val="F4EEF8">
                  <a:shade val="67500"/>
                  <a:satMod val="115000"/>
                </a:srgbClr>
              </a:gs>
              <a:gs pos="100000">
                <a:srgbClr val="F4EEF8">
                  <a:shade val="100000"/>
                  <a:satMod val="115000"/>
                </a:srgb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261232" name="Google Shape;42;p6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200"/>
              <a:buFont typeface="Arial"/>
              <a:buNone/>
              <a:defRPr/>
            </a:pPr>
            <a:r>
              <a:rPr lang="en-US" sz="12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MY FOCUS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074027" name="Google Shape;43;p6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My focus…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37932" name="Google Shape;44;p6"/>
          <p:cNvSpPr/>
          <p:nvPr/>
        </p:nvSpPr>
        <p:spPr bwMode="auto">
          <a:xfrm>
            <a:off x="640080" y="1965960"/>
            <a:ext cx="9885244" cy="416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rgbClr val="2E2438"/>
              </a:buClr>
              <a:buSzPts val="2000"/>
              <a:buFont typeface="Arial"/>
              <a:buChar char="•"/>
              <a:defRPr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A genomics atlas can only sit on top of metadata that is already standardised and governed as you cannot build a data discovery tool on top of chaos.</a:t>
            </a:r>
            <a:endParaRPr/>
          </a:p>
          <a:p>
            <a:pPr>
              <a:buClr>
                <a:srgbClr val="2E2438"/>
              </a:buClr>
              <a:buSzPts val="2000"/>
              <a:defRPr/>
            </a:pPr>
            <a:endParaRPr lang="en-GB"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2000"/>
              <a:buFont typeface="Arial"/>
              <a:buChar char="•"/>
              <a:defRPr/>
            </a:pPr>
            <a:r>
              <a:rPr lang="en-US" sz="2000">
                <a:solidFill>
                  <a:srgbClr val="2E2438"/>
                </a:solidFill>
                <a:latin typeface="Arial"/>
                <a:ea typeface="Arial"/>
                <a:cs typeface="Arial"/>
              </a:rPr>
              <a:t>To develop a reusable metadata approach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2837896" name="Google Shape;45;p6"/>
          <p:cNvSpPr/>
          <p:nvPr/>
        </p:nvSpPr>
        <p:spPr bwMode="auto">
          <a:xfrm>
            <a:off x="640080" y="3786102"/>
            <a:ext cx="10010086" cy="1422896"/>
          </a:xfrm>
          <a:prstGeom prst="roundRect">
            <a:avLst>
              <a:gd name="adj" fmla="val 3243"/>
            </a:avLst>
          </a:prstGeom>
          <a:solidFill>
            <a:srgbClr val="F4EEF8"/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695884" name="Google Shape;46;p6"/>
          <p:cNvSpPr/>
          <p:nvPr/>
        </p:nvSpPr>
        <p:spPr bwMode="auto">
          <a:xfrm>
            <a:off x="1148327" y="3987466"/>
            <a:ext cx="9376997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246A3"/>
              </a:buClr>
              <a:buSzPts val="2000"/>
              <a:buFont typeface="Arial"/>
              <a:buNone/>
              <a:defRPr/>
            </a:pPr>
            <a:r>
              <a:rPr lang="en-US" sz="2000">
                <a:solidFill>
                  <a:srgbClr val="7246A3"/>
                </a:solidFill>
                <a:latin typeface="Arial"/>
                <a:ea typeface="Arial"/>
                <a:cs typeface="Arial"/>
              </a:rPr>
              <a:t>Better metadata would make it easier to identify relevant data before access is requested, saving researchers time. </a:t>
            </a:r>
            <a:endParaRPr sz="2000">
              <a:solidFill>
                <a:srgbClr val="7246A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808140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solidFill>
            <a:srgbClr val="F4EE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77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190741" name="Google Shape;45;p6"/>
          <p:cNvSpPr/>
          <p:nvPr/>
        </p:nvSpPr>
        <p:spPr bwMode="auto">
          <a:xfrm>
            <a:off x="325349" y="276365"/>
            <a:ext cx="11482322" cy="6148062"/>
          </a:xfrm>
          <a:prstGeom prst="roundRect">
            <a:avLst>
              <a:gd name="adj" fmla="val 3243"/>
            </a:avLst>
          </a:prstGeom>
          <a:solidFill>
            <a:srgbClr val="F4EEF8"/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4609932" name="Google Shape;159;p11"/>
          <p:cNvSpPr/>
          <p:nvPr/>
        </p:nvSpPr>
        <p:spPr bwMode="auto">
          <a:xfrm>
            <a:off x="822960" y="284747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867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7725037" name="Google Shape;161;p11"/>
          <p:cNvSpPr/>
          <p:nvPr/>
        </p:nvSpPr>
        <p:spPr bwMode="auto">
          <a:xfrm>
            <a:off x="830982" y="514871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867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549825041" name="Google Shape;162;p11"/>
          <p:cNvGrpSpPr/>
          <p:nvPr/>
        </p:nvGrpSpPr>
        <p:grpSpPr bwMode="auto">
          <a:xfrm>
            <a:off x="822960" y="561157"/>
            <a:ext cx="10984710" cy="5578478"/>
            <a:chOff x="814939" y="548640"/>
            <a:chExt cx="10984710" cy="5578478"/>
          </a:xfrm>
        </p:grpSpPr>
        <p:sp>
          <p:nvSpPr>
            <p:cNvPr id="163" name="Google Shape;163;p11"/>
            <p:cNvSpPr/>
            <p:nvPr/>
          </p:nvSpPr>
          <p:spPr bwMode="auto">
            <a:xfrm>
              <a:off x="822960" y="548640"/>
              <a:ext cx="10515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A441"/>
                </a:buClr>
                <a:buSzPts val="1800"/>
                <a:buFont typeface="Arial"/>
                <a:buNone/>
                <a:defRPr/>
              </a:pPr>
              <a:r>
                <a:rPr lang="en-US" sz="12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WHY DOES THIS MATTER?</a:t>
              </a:r>
              <a:endParaRPr sz="12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4" name="Google Shape;164;p11"/>
            <p:cNvSpPr/>
            <p:nvPr/>
          </p:nvSpPr>
          <p:spPr bwMode="auto">
            <a:xfrm>
              <a:off x="822960" y="817122"/>
              <a:ext cx="10515600" cy="777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None/>
                <a:defRPr/>
              </a:pPr>
              <a:r>
                <a:rPr lang="en-US" sz="30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Findable data to faster research</a:t>
              </a:r>
              <a:endParaRPr sz="30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5" name="Google Shape;165;p11"/>
            <p:cNvSpPr/>
            <p:nvPr/>
          </p:nvSpPr>
          <p:spPr bwMode="auto">
            <a:xfrm>
              <a:off x="822960" y="1613036"/>
              <a:ext cx="502920" cy="502920"/>
            </a:xfrm>
            <a:prstGeom prst="roundRect">
              <a:avLst>
                <a:gd name="adj" fmla="val 49091"/>
              </a:avLst>
            </a:prstGeom>
            <a:solidFill>
              <a:srgbClr val="E867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Google Shape;166;p11"/>
            <p:cNvSpPr/>
            <p:nvPr/>
          </p:nvSpPr>
          <p:spPr bwMode="auto">
            <a:xfrm>
              <a:off x="822960" y="1647366"/>
              <a:ext cx="494900" cy="468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  <a:defRPr/>
              </a:pPr>
              <a:r>
                <a:rPr lang="en-US" sz="1800" b="1">
                  <a:solidFill>
                    <a:srgbClr val="693B9E"/>
                  </a:solidFill>
                  <a:latin typeface="Calibri"/>
                  <a:ea typeface="Calibri"/>
                  <a:cs typeface="Calibri"/>
                </a:rPr>
                <a:t>1</a:t>
              </a:r>
              <a:endParaRPr sz="1800">
                <a:solidFill>
                  <a:srgbClr val="693B9E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7" name="Google Shape;167;p11"/>
            <p:cNvSpPr/>
            <p:nvPr/>
          </p:nvSpPr>
          <p:spPr bwMode="auto">
            <a:xfrm>
              <a:off x="1554480" y="1567316"/>
              <a:ext cx="9692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  <a:defRPr/>
              </a:pPr>
              <a:r>
                <a:rPr lang="en-US" sz="19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Researchers</a:t>
              </a:r>
              <a:endParaRPr sz="19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Google Shape;168;p11"/>
            <p:cNvSpPr/>
            <p:nvPr/>
          </p:nvSpPr>
          <p:spPr bwMode="auto">
            <a:xfrm>
              <a:off x="1554480" y="1997084"/>
              <a:ext cx="96926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CCE8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Spend less time hunting for data, more time on the science that could lead to earlier diagnosis or new treatments.</a:t>
              </a:r>
              <a:endParaRPr sz="18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9" name="Google Shape;169;p11"/>
            <p:cNvSpPr/>
            <p:nvPr/>
          </p:nvSpPr>
          <p:spPr bwMode="auto">
            <a:xfrm>
              <a:off x="822960" y="2881806"/>
              <a:ext cx="5029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  <a:defRPr/>
              </a:pPr>
              <a:r>
                <a:rPr lang="en-US" sz="1800" b="1">
                  <a:solidFill>
                    <a:srgbClr val="693B9E"/>
                  </a:solidFill>
                  <a:latin typeface="Calibri"/>
                  <a:ea typeface="Calibri"/>
                  <a:cs typeface="Calibri"/>
                </a:rPr>
                <a:t>2</a:t>
              </a:r>
              <a:endParaRPr sz="1800">
                <a:solidFill>
                  <a:srgbClr val="693B9E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 bwMode="auto">
            <a:xfrm>
              <a:off x="1554480" y="2801756"/>
              <a:ext cx="9692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  <a:defRPr/>
              </a:pPr>
              <a:r>
                <a:rPr lang="en-US" sz="19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DPUK</a:t>
              </a:r>
              <a:endParaRPr sz="19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1" name="Google Shape;171;p11"/>
            <p:cNvSpPr/>
            <p:nvPr/>
          </p:nvSpPr>
          <p:spPr bwMode="auto">
            <a:xfrm>
              <a:off x="1554480" y="3231524"/>
              <a:ext cx="96926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CCE8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A reusable pattern for adding more datasets and modalities.</a:t>
              </a:r>
              <a:endParaRPr>
                <a:solidFill>
                  <a:srgbClr val="693B9E"/>
                </a:solidFill>
              </a:endParaRPr>
            </a:p>
          </p:txBody>
        </p:sp>
        <p:sp>
          <p:nvSpPr>
            <p:cNvPr id="172" name="Google Shape;172;p11"/>
            <p:cNvSpPr/>
            <p:nvPr/>
          </p:nvSpPr>
          <p:spPr bwMode="auto">
            <a:xfrm>
              <a:off x="822960" y="3969622"/>
              <a:ext cx="502920" cy="502920"/>
            </a:xfrm>
            <a:prstGeom prst="roundRect">
              <a:avLst>
                <a:gd name="adj" fmla="val 49091"/>
              </a:avLst>
            </a:prstGeom>
            <a:solidFill>
              <a:srgbClr val="E867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rgbClr val="693B9E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 bwMode="auto">
            <a:xfrm>
              <a:off x="822960" y="4003952"/>
              <a:ext cx="5029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18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3</a:t>
              </a:r>
              <a:endParaRPr sz="18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4" name="Google Shape;174;p11"/>
            <p:cNvSpPr/>
            <p:nvPr/>
          </p:nvSpPr>
          <p:spPr bwMode="auto">
            <a:xfrm>
              <a:off x="1554480" y="3923902"/>
              <a:ext cx="9692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  <a:defRPr/>
              </a:pPr>
              <a:r>
                <a:rPr lang="en-US" sz="19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Data Managers</a:t>
              </a:r>
              <a:endParaRPr sz="19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5" name="Google Shape;175;p11"/>
            <p:cNvSpPr/>
            <p:nvPr/>
          </p:nvSpPr>
          <p:spPr bwMode="auto">
            <a:xfrm>
              <a:off x="1554480" y="4353670"/>
              <a:ext cx="96926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CCE8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More consistent descriptions and a clearer visibility of metadata gaps.</a:t>
              </a:r>
              <a:endParaRPr sz="18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6" name="Google Shape;176;p11"/>
            <p:cNvSpPr/>
            <p:nvPr/>
          </p:nvSpPr>
          <p:spPr bwMode="auto">
            <a:xfrm>
              <a:off x="1562502" y="5102990"/>
              <a:ext cx="9692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  <a:defRPr/>
              </a:pPr>
              <a:r>
                <a:rPr lang="en-US" sz="1900" b="1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The public</a:t>
              </a:r>
              <a:endParaRPr sz="19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7" name="Google Shape;177;p11"/>
            <p:cNvSpPr/>
            <p:nvPr/>
          </p:nvSpPr>
          <p:spPr bwMode="auto">
            <a:xfrm>
              <a:off x="1562502" y="5532758"/>
              <a:ext cx="10237148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9CCE8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693B9E"/>
                  </a:solidFill>
                  <a:latin typeface="Arial"/>
                  <a:ea typeface="Arial"/>
                  <a:cs typeface="Arial"/>
                </a:rPr>
                <a:t>Data donated for dementia research becomes genuinely usable.</a:t>
              </a:r>
              <a:endParaRPr sz="1800">
                <a:solidFill>
                  <a:srgbClr val="693B9E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 bwMode="auto">
            <a:xfrm>
              <a:off x="814939" y="5167003"/>
              <a:ext cx="5029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  <a:defRPr/>
              </a:pPr>
              <a:r>
                <a:rPr lang="en-US" sz="1800" b="1">
                  <a:solidFill>
                    <a:srgbClr val="693B9E"/>
                  </a:solidFill>
                  <a:latin typeface="Calibri"/>
                  <a:ea typeface="Calibri"/>
                  <a:cs typeface="Calibri"/>
                </a:rPr>
                <a:t>4</a:t>
              </a:r>
              <a:endParaRPr sz="1800">
                <a:solidFill>
                  <a:srgbClr val="693B9E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66120" name="Google Shape;55;p7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200"/>
              <a:buFont typeface="Arial"/>
              <a:buNone/>
              <a:defRPr/>
            </a:pPr>
            <a:r>
              <a:rPr lang="en-US" sz="12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WHAT DID I ACTUALLY DO?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274411" name="Google Shape;56;p7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A standard way to describe every dataset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23767743" name="Google Shape;57;p7"/>
          <p:cNvGrpSpPr/>
          <p:nvPr/>
        </p:nvGrpSpPr>
        <p:grpSpPr bwMode="auto">
          <a:xfrm>
            <a:off x="363684" y="1471569"/>
            <a:ext cx="3291840" cy="1572763"/>
            <a:chOff x="731520" y="2148840"/>
            <a:chExt cx="3291840" cy="2286000"/>
          </a:xfrm>
        </p:grpSpPr>
        <p:sp>
          <p:nvSpPr>
            <p:cNvPr id="58" name="Google Shape;58;p7"/>
            <p:cNvSpPr/>
            <p:nvPr/>
          </p:nvSpPr>
          <p:spPr bwMode="auto">
            <a:xfrm>
              <a:off x="731520" y="2148840"/>
              <a:ext cx="3291840" cy="2286000"/>
            </a:xfrm>
            <a:prstGeom prst="roundRect">
              <a:avLst>
                <a:gd name="adj" fmla="val 4800"/>
              </a:avLst>
            </a:prstGeom>
            <a:solidFill>
              <a:srgbClr val="6C3FA0"/>
            </a:solidFill>
            <a:ln>
              <a:noFill/>
            </a:ln>
            <a:effectLst>
              <a:outerShdw blurRad="76200" dist="38100" dir="5400000" algn="bl" rotWithShape="0">
                <a:srgbClr val="2B1B3D">
                  <a:alpha val="1607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" name="Google Shape;59;p7"/>
            <p:cNvSpPr/>
            <p:nvPr/>
          </p:nvSpPr>
          <p:spPr bwMode="auto">
            <a:xfrm>
              <a:off x="845420" y="2423159"/>
              <a:ext cx="3072384" cy="589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1. Read and understand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" name="Google Shape;60;p7"/>
            <p:cNvSpPr/>
            <p:nvPr/>
          </p:nvSpPr>
          <p:spPr bwMode="auto">
            <a:xfrm>
              <a:off x="731520" y="3017519"/>
              <a:ext cx="324114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EE3F5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EEE3F5"/>
                  </a:solidFill>
                  <a:latin typeface="Arial"/>
                  <a:ea typeface="Arial"/>
                  <a:cs typeface="Arial"/>
                </a:rPr>
                <a:t>Look at where the data lives and what labels it already has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56510976" name="Google Shape;61;p7"/>
          <p:cNvSpPr/>
          <p:nvPr/>
        </p:nvSpPr>
        <p:spPr bwMode="auto">
          <a:xfrm>
            <a:off x="7588582" y="2196265"/>
            <a:ext cx="586154" cy="26980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0004C"/>
          </a:solidFill>
          <a:ln w="31750" cap="flat" cmpd="sng">
            <a:solidFill>
              <a:srgbClr val="F4EE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7126145" name="Google Shape;66;p7"/>
          <p:cNvGrpSpPr/>
          <p:nvPr/>
        </p:nvGrpSpPr>
        <p:grpSpPr bwMode="auto">
          <a:xfrm>
            <a:off x="4169519" y="1471569"/>
            <a:ext cx="3291840" cy="1572763"/>
            <a:chOff x="8229600" y="2148840"/>
            <a:chExt cx="3291840" cy="2286000"/>
          </a:xfrm>
        </p:grpSpPr>
        <p:sp>
          <p:nvSpPr>
            <p:cNvPr id="67" name="Google Shape;67;p7"/>
            <p:cNvSpPr/>
            <p:nvPr/>
          </p:nvSpPr>
          <p:spPr bwMode="auto">
            <a:xfrm>
              <a:off x="8229600" y="2148840"/>
              <a:ext cx="3291840" cy="2286000"/>
            </a:xfrm>
            <a:prstGeom prst="roundRect">
              <a:avLst>
                <a:gd name="adj" fmla="val 4800"/>
              </a:avLst>
            </a:prstGeom>
            <a:solidFill>
              <a:srgbClr val="6C3FA0"/>
            </a:solidFill>
            <a:ln>
              <a:noFill/>
            </a:ln>
            <a:effectLst>
              <a:outerShdw blurRad="76200" dist="38100" dir="5400000" algn="bl" rotWithShape="0">
                <a:srgbClr val="2B1B3D">
                  <a:alpha val="1607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Google Shape;68;p7"/>
            <p:cNvSpPr/>
            <p:nvPr/>
          </p:nvSpPr>
          <p:spPr bwMode="auto">
            <a:xfrm>
              <a:off x="8503920" y="2423160"/>
              <a:ext cx="27432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. Extract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Google Shape;69;p7"/>
            <p:cNvSpPr/>
            <p:nvPr/>
          </p:nvSpPr>
          <p:spPr bwMode="auto">
            <a:xfrm>
              <a:off x="8291856" y="3017519"/>
              <a:ext cx="320040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EE3F5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EEE3F5"/>
                  </a:solidFill>
                  <a:latin typeface="Arial"/>
                  <a:ea typeface="Arial"/>
                  <a:cs typeface="Arial"/>
                </a:rPr>
                <a:t>Collect available metadata.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62476370" name="Google Shape;70;p7"/>
          <p:cNvSpPr/>
          <p:nvPr/>
        </p:nvSpPr>
        <p:spPr bwMode="auto">
          <a:xfrm>
            <a:off x="640080" y="5699227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500"/>
              <a:buFont typeface="Arial"/>
              <a:buNone/>
              <a:defRPr/>
            </a:pPr>
            <a:r>
              <a:rPr lang="en-US" sz="1500" i="1">
                <a:solidFill>
                  <a:srgbClr val="6B6478"/>
                </a:solidFill>
                <a:latin typeface="Arial"/>
                <a:ea typeface="Arial"/>
                <a:cs typeface="Arial"/>
              </a:rPr>
              <a:t>"Standard format" is like a form with the same boxes every time (study name, data type, quality checks) so anything can be compared or searched the same way, no matter where it came from.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747274149" name="Google Shape;72;p7"/>
          <p:cNvGrpSpPr/>
          <p:nvPr/>
        </p:nvGrpSpPr>
        <p:grpSpPr bwMode="auto">
          <a:xfrm>
            <a:off x="8295944" y="3796795"/>
            <a:ext cx="3291840" cy="1572763"/>
            <a:chOff x="8229600" y="2148840"/>
            <a:chExt cx="3291840" cy="2286000"/>
          </a:xfrm>
        </p:grpSpPr>
        <p:sp>
          <p:nvSpPr>
            <p:cNvPr id="73" name="Google Shape;73;p7"/>
            <p:cNvSpPr/>
            <p:nvPr/>
          </p:nvSpPr>
          <p:spPr bwMode="auto">
            <a:xfrm>
              <a:off x="8229600" y="2148840"/>
              <a:ext cx="3291840" cy="2286000"/>
            </a:xfrm>
            <a:prstGeom prst="roundRect">
              <a:avLst>
                <a:gd name="adj" fmla="val 4800"/>
              </a:avLst>
            </a:prstGeom>
            <a:solidFill>
              <a:srgbClr val="6C3FA0"/>
            </a:solidFill>
            <a:ln>
              <a:noFill/>
            </a:ln>
            <a:effectLst>
              <a:outerShdw blurRad="76200" dist="38100" dir="5400000" algn="bl" rotWithShape="0">
                <a:srgbClr val="2B1B3D">
                  <a:alpha val="1607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Google Shape;74;p7"/>
            <p:cNvSpPr/>
            <p:nvPr/>
          </p:nvSpPr>
          <p:spPr bwMode="auto">
            <a:xfrm>
              <a:off x="8503920" y="2423160"/>
              <a:ext cx="27432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4. Map and validate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Google Shape;75;p7"/>
            <p:cNvSpPr/>
            <p:nvPr/>
          </p:nvSpPr>
          <p:spPr bwMode="auto">
            <a:xfrm>
              <a:off x="8268512" y="3017519"/>
              <a:ext cx="322783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EE3F5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EEE3F5"/>
                  </a:solidFill>
                  <a:latin typeface="Arial"/>
                  <a:ea typeface="Arial"/>
                  <a:cs typeface="Arial"/>
                </a:rPr>
                <a:t>Map to the model and check completeness.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60465513" name="Google Shape;76;p7"/>
          <p:cNvGrpSpPr/>
          <p:nvPr/>
        </p:nvGrpSpPr>
        <p:grpSpPr bwMode="auto">
          <a:xfrm>
            <a:off x="4174235" y="3781972"/>
            <a:ext cx="3291840" cy="1572763"/>
            <a:chOff x="8229600" y="2148840"/>
            <a:chExt cx="3291840" cy="2286000"/>
          </a:xfrm>
        </p:grpSpPr>
        <p:sp>
          <p:nvSpPr>
            <p:cNvPr id="77" name="Google Shape;77;p7"/>
            <p:cNvSpPr/>
            <p:nvPr/>
          </p:nvSpPr>
          <p:spPr bwMode="auto">
            <a:xfrm>
              <a:off x="8229600" y="2148840"/>
              <a:ext cx="3291840" cy="2286000"/>
            </a:xfrm>
            <a:prstGeom prst="roundRect">
              <a:avLst>
                <a:gd name="adj" fmla="val 4800"/>
              </a:avLst>
            </a:prstGeom>
            <a:solidFill>
              <a:srgbClr val="6C3FA0"/>
            </a:solidFill>
            <a:ln>
              <a:noFill/>
            </a:ln>
            <a:effectLst>
              <a:outerShdw blurRad="76200" dist="38100" dir="5400000" algn="bl" rotWithShape="0">
                <a:srgbClr val="2B1B3D">
                  <a:alpha val="1607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Google Shape;78;p7"/>
            <p:cNvSpPr/>
            <p:nvPr/>
          </p:nvSpPr>
          <p:spPr bwMode="auto">
            <a:xfrm>
              <a:off x="8503920" y="2423160"/>
              <a:ext cx="27432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5. Publish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9" name="Google Shape;79;p7"/>
            <p:cNvSpPr/>
            <p:nvPr/>
          </p:nvSpPr>
          <p:spPr bwMode="auto">
            <a:xfrm>
              <a:off x="8261604" y="3017519"/>
              <a:ext cx="325983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EE3F5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EEE3F5"/>
                  </a:solidFill>
                  <a:latin typeface="Arial"/>
                  <a:ea typeface="Arial"/>
                  <a:cs typeface="Arial"/>
                </a:rPr>
                <a:t>Produce files ready to load into a shared search system ("Gen3")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067122614" name="Google Shape;80;p7"/>
          <p:cNvSpPr/>
          <p:nvPr/>
        </p:nvSpPr>
        <p:spPr bwMode="auto">
          <a:xfrm>
            <a:off x="3726663" y="2131950"/>
            <a:ext cx="42084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0004C"/>
          </a:solidFill>
          <a:ln w="31750" cap="flat" cmpd="sng">
            <a:solidFill>
              <a:srgbClr val="F4EE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151913" name="Google Shape;81;p7"/>
          <p:cNvSpPr/>
          <p:nvPr/>
        </p:nvSpPr>
        <p:spPr bwMode="auto">
          <a:xfrm rot="5400000">
            <a:off x="9580937" y="3366050"/>
            <a:ext cx="48367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0004C"/>
          </a:solidFill>
          <a:ln w="31750" cap="flat" cmpd="sng">
            <a:solidFill>
              <a:srgbClr val="F4EE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326969" name="Google Shape;82;p7"/>
          <p:cNvSpPr/>
          <p:nvPr/>
        </p:nvSpPr>
        <p:spPr bwMode="auto">
          <a:xfrm rot="10800000">
            <a:off x="7588582" y="4356731"/>
            <a:ext cx="585245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0004C"/>
          </a:solidFill>
          <a:ln w="31750" cap="flat" cmpd="sng">
            <a:solidFill>
              <a:srgbClr val="F4EE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8066834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solidFill>
            <a:srgbClr val="F4EE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0984" name="Google Shape;62;p7"/>
          <p:cNvGrpSpPr/>
          <p:nvPr/>
        </p:nvGrpSpPr>
        <p:grpSpPr bwMode="auto">
          <a:xfrm>
            <a:off x="8255884" y="1471569"/>
            <a:ext cx="3338528" cy="1572763"/>
            <a:chOff x="4480560" y="2148840"/>
            <a:chExt cx="3338528" cy="2286000"/>
          </a:xfrm>
        </p:grpSpPr>
        <p:sp>
          <p:nvSpPr>
            <p:cNvPr id="32" name="Google Shape;63;p7"/>
            <p:cNvSpPr/>
            <p:nvPr/>
          </p:nvSpPr>
          <p:spPr bwMode="auto">
            <a:xfrm>
              <a:off x="4480560" y="2148840"/>
              <a:ext cx="3291840" cy="2286000"/>
            </a:xfrm>
            <a:prstGeom prst="roundRect">
              <a:avLst>
                <a:gd name="adj" fmla="val 4800"/>
              </a:avLst>
            </a:prstGeom>
            <a:solidFill>
              <a:srgbClr val="6C3FA0"/>
            </a:solidFill>
            <a:ln>
              <a:noFill/>
            </a:ln>
            <a:effectLst>
              <a:outerShdw blurRad="76200" dist="38100" dir="5400000" algn="bl" rotWithShape="0">
                <a:srgbClr val="2B1B3D">
                  <a:alpha val="1607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" name="Google Shape;64;p7"/>
            <p:cNvSpPr/>
            <p:nvPr/>
          </p:nvSpPr>
          <p:spPr bwMode="auto">
            <a:xfrm>
              <a:off x="4754880" y="2423160"/>
              <a:ext cx="27432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>
                  <a:solidFill>
                    <a:srgbClr val="FFFFFF"/>
                  </a:solidFill>
                </a:rPr>
                <a:t>3</a:t>
              </a: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. </a:t>
              </a:r>
              <a:r>
                <a:rPr lang="en-US" sz="2000" b="1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Standardise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" name="Google Shape;65;p7"/>
            <p:cNvSpPr/>
            <p:nvPr/>
          </p:nvSpPr>
          <p:spPr bwMode="auto">
            <a:xfrm>
              <a:off x="4618688" y="3017519"/>
              <a:ext cx="320040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EE3F5"/>
                </a:buClr>
                <a:buSzPts val="1800"/>
                <a:buFont typeface="Arial"/>
                <a:buNone/>
                <a:defRPr/>
              </a:pPr>
              <a:r>
                <a:rPr lang="en-US" sz="1800">
                  <a:solidFill>
                    <a:srgbClr val="EEE3F5"/>
                  </a:solidFill>
                  <a:latin typeface="Arial"/>
                  <a:ea typeface="Arial"/>
                  <a:cs typeface="Arial"/>
                </a:rPr>
                <a:t>Translate those labels into one shared, consistent format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146858" name="Google Shape;89;p8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200"/>
              <a:buFont typeface="Arial"/>
              <a:buNone/>
              <a:defRPr/>
            </a:pPr>
            <a:r>
              <a:rPr lang="en-US" sz="12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A KEY DECISION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7970369" name="Google Shape;90;p8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Prove it works well, rather than rushing everything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4410001" name="Google Shape;91;p8"/>
          <p:cNvSpPr/>
          <p:nvPr/>
        </p:nvSpPr>
        <p:spPr bwMode="auto">
          <a:xfrm>
            <a:off x="640080" y="1874520"/>
            <a:ext cx="5303520" cy="3246120"/>
          </a:xfrm>
          <a:prstGeom prst="roundRect">
            <a:avLst>
              <a:gd name="adj" fmla="val 3380"/>
            </a:avLst>
          </a:prstGeom>
          <a:solidFill>
            <a:srgbClr val="F4EEF8"/>
          </a:soli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12779" name="Google Shape;92;p8"/>
          <p:cNvSpPr/>
          <p:nvPr/>
        </p:nvSpPr>
        <p:spPr bwMode="auto">
          <a:xfrm>
            <a:off x="914400" y="21031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00"/>
              <a:buFont typeface="Arial"/>
              <a:buNone/>
              <a:defRPr/>
            </a:pPr>
            <a:r>
              <a:rPr lang="en-US" sz="2000" b="1">
                <a:solidFill>
                  <a:srgbClr val="6B6478"/>
                </a:solidFill>
                <a:latin typeface="Arial"/>
                <a:ea typeface="Arial"/>
                <a:cs typeface="Arial"/>
              </a:rPr>
              <a:t>Option considered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7873978" name="Google Shape;93;p8"/>
          <p:cNvSpPr/>
          <p:nvPr/>
        </p:nvSpPr>
        <p:spPr bwMode="auto">
          <a:xfrm>
            <a:off x="778209" y="2468880"/>
            <a:ext cx="493873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2000"/>
              <a:buFont typeface="Arial"/>
              <a:buNone/>
              <a:defRPr/>
            </a:pPr>
            <a:r>
              <a:rPr lang="en-US" sz="2000" b="1">
                <a:solidFill>
                  <a:srgbClr val="2E2438"/>
                </a:solidFill>
                <a:latin typeface="Arial"/>
                <a:ea typeface="Arial"/>
                <a:cs typeface="Arial"/>
              </a:rPr>
              <a:t>Try to convert everything, everywhere, immediately.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5107832" name="Google Shape;94;p8"/>
          <p:cNvSpPr/>
          <p:nvPr/>
        </p:nvSpPr>
        <p:spPr bwMode="auto">
          <a:xfrm>
            <a:off x="730547" y="3246120"/>
            <a:ext cx="493873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00"/>
              <a:buFont typeface="Arial"/>
              <a:buNone/>
              <a:defRPr/>
            </a:pPr>
            <a:r>
              <a:rPr lang="en-US" sz="2000">
                <a:solidFill>
                  <a:srgbClr val="6B6478"/>
                </a:solidFill>
                <a:latin typeface="Arial"/>
                <a:ea typeface="Arial"/>
                <a:cs typeface="Arial"/>
              </a:rPr>
              <a:t>Risk: with five different data types and limited time, this could mean nothing gets done properly.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8583341" name="Google Shape;95;p8"/>
          <p:cNvSpPr/>
          <p:nvPr/>
        </p:nvSpPr>
        <p:spPr bwMode="auto">
          <a:xfrm>
            <a:off x="6263640" y="187452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2B1B3D"/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4855563" name="Google Shape;96;p8"/>
          <p:cNvSpPr/>
          <p:nvPr/>
        </p:nvSpPr>
        <p:spPr bwMode="auto">
          <a:xfrm>
            <a:off x="6518504" y="1996113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Arial"/>
              <a:buNone/>
              <a:defRPr/>
            </a:pPr>
            <a:r>
              <a:rPr lang="en-US" sz="20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What I chose instead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982468" name="Google Shape;97;p8"/>
          <p:cNvSpPr/>
          <p:nvPr/>
        </p:nvSpPr>
        <p:spPr bwMode="auto">
          <a:xfrm>
            <a:off x="6537960" y="2468880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 the whole picture, prove it thoroughly on a sample.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893139" name="Google Shape;98;p8"/>
          <p:cNvSpPr/>
          <p:nvPr/>
        </p:nvSpPr>
        <p:spPr bwMode="auto">
          <a:xfrm>
            <a:off x="6537960" y="3246120"/>
            <a:ext cx="480060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E3F5"/>
              </a:buClr>
              <a:buSzPts val="2000"/>
              <a:buFont typeface="Arial"/>
              <a:buNone/>
              <a:defRPr/>
            </a:pPr>
            <a:r>
              <a:rPr lang="en-US" sz="2000">
                <a:solidFill>
                  <a:srgbClr val="EEE3F5"/>
                </a:solidFill>
                <a:latin typeface="Arial"/>
                <a:ea typeface="Arial"/>
                <a:cs typeface="Arial"/>
              </a:rPr>
              <a:t>I catalogued what exists across all five data types, then fully built and tested the standardisation on three of them enough to prove the method genuinely works.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429120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solidFill>
            <a:srgbClr val="F4EE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68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03411" name="Google Shape;45;p6"/>
          <p:cNvSpPr/>
          <p:nvPr/>
        </p:nvSpPr>
        <p:spPr bwMode="auto">
          <a:xfrm>
            <a:off x="313822" y="308225"/>
            <a:ext cx="11706941" cy="6148062"/>
          </a:xfrm>
          <a:prstGeom prst="roundRect">
            <a:avLst>
              <a:gd name="adj" fmla="val 3243"/>
            </a:avLst>
          </a:prstGeom>
          <a:solidFill>
            <a:srgbClr val="F4EEF8"/>
          </a:solidFill>
          <a:ln>
            <a:noFill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5966624" name="Google Shape;56;p5"/>
          <p:cNvSpPr/>
          <p:nvPr/>
        </p:nvSpPr>
        <p:spPr bwMode="auto">
          <a:xfrm>
            <a:off x="548640" y="47548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8FF"/>
              </a:buClr>
              <a:buSzPts val="1800"/>
              <a:buFont typeface="Comic Sans MS"/>
              <a:buNone/>
              <a:defRPr/>
            </a:pPr>
            <a:r>
              <a:rPr lang="en-US" sz="1200" b="1">
                <a:solidFill>
                  <a:srgbClr val="693B9E"/>
                </a:solidFill>
                <a:latin typeface="+mj-lt"/>
                <a:ea typeface="Comic Sans MS"/>
                <a:cs typeface="Comic Sans MS"/>
              </a:rPr>
              <a:t>THE TOOL IN ONE PICTURE</a:t>
            </a:r>
            <a:endParaRPr sz="1200">
              <a:solidFill>
                <a:srgbClr val="693B9E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976149469" name="Google Shape;57;p5"/>
          <p:cNvSpPr/>
          <p:nvPr/>
        </p:nvSpPr>
        <p:spPr bwMode="auto">
          <a:xfrm>
            <a:off x="548640" y="781704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What it is? A metadata </a:t>
            </a:r>
            <a:r>
              <a:rPr lang="en-US" sz="2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standardisation</a:t>
            </a:r>
            <a:r>
              <a:rPr lang="en-US" sz="2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 pipeline</a:t>
            </a:r>
            <a:endParaRPr sz="30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5414405" name="Google Shape;58;p5"/>
          <p:cNvSpPr/>
          <p:nvPr/>
        </p:nvSpPr>
        <p:spPr bwMode="auto">
          <a:xfrm>
            <a:off x="548640" y="167779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7183"/>
              </a:buClr>
              <a:buSzPts val="1800"/>
              <a:buFont typeface="Comic Sans MS"/>
              <a:buNone/>
              <a:defRPr/>
            </a:pPr>
            <a:r>
              <a:rPr lang="en-US" sz="1800" i="1">
                <a:solidFill>
                  <a:srgbClr val="637183"/>
                </a:solidFill>
                <a:latin typeface="+mj-lt"/>
                <a:ea typeface="Comic Sans MS"/>
                <a:cs typeface="Comic Sans MS"/>
              </a:rPr>
              <a:t>Messy data in one end; validated, Gen3-ready, documented metadata out the other.</a:t>
            </a:r>
            <a:endParaRPr sz="15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grpSp>
        <p:nvGrpSpPr>
          <p:cNvPr id="537495685" name="Group 9"/>
          <p:cNvGrpSpPr/>
          <p:nvPr/>
        </p:nvGrpSpPr>
        <p:grpSpPr bwMode="auto">
          <a:xfrm>
            <a:off x="661811" y="2353426"/>
            <a:ext cx="11213318" cy="3204731"/>
            <a:chOff x="579618" y="1838251"/>
            <a:chExt cx="11213318" cy="3204731"/>
          </a:xfrm>
        </p:grpSpPr>
        <p:sp>
          <p:nvSpPr>
            <p:cNvPr id="43" name="Arrow: Curved Up 42"/>
            <p:cNvSpPr/>
            <p:nvPr/>
          </p:nvSpPr>
          <p:spPr bwMode="auto">
            <a:xfrm flipV="1">
              <a:off x="8584574" y="2353497"/>
              <a:ext cx="1874520" cy="321748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78005F"/>
            </a:solidFill>
            <a:ln>
              <a:solidFill>
                <a:srgbClr val="7800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 bwMode="auto">
            <a:xfrm>
              <a:off x="579618" y="1838251"/>
              <a:ext cx="11213318" cy="3204731"/>
              <a:chOff x="579618" y="1838251"/>
              <a:chExt cx="11213318" cy="3204731"/>
            </a:xfrm>
          </p:grpSpPr>
          <p:sp>
            <p:nvSpPr>
              <p:cNvPr id="63" name="Google Shape;63;p5"/>
              <p:cNvSpPr/>
              <p:nvPr/>
            </p:nvSpPr>
            <p:spPr bwMode="auto">
              <a:xfrm>
                <a:off x="2903220" y="2714841"/>
                <a:ext cx="1870799" cy="1371600"/>
              </a:xfrm>
              <a:prstGeom prst="roundRect">
                <a:avLst>
                  <a:gd name="adj" fmla="val 6667"/>
                </a:avLst>
              </a:prstGeom>
              <a:solidFill>
                <a:srgbClr val="2B1B3D">
                  <a:alpha val="89000"/>
                </a:srgbClr>
              </a:solidFill>
              <a:ln>
                <a:noFill/>
              </a:ln>
              <a:effectLst>
                <a:outerShdw blurRad="76200" dist="38100" dir="5400000" algn="bl" rotWithShape="0">
                  <a:srgbClr val="0E3A46">
                    <a:alpha val="18039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dk1"/>
                  </a:solidFill>
                  <a:latin typeface="+mj-lt"/>
                  <a:ea typeface="Calibri"/>
                  <a:cs typeface="Calibri"/>
                </a:endParaRPr>
              </a:p>
            </p:txBody>
          </p:sp>
          <p:grpSp>
            <p:nvGrpSpPr>
              <p:cNvPr id="8" name="Group 7"/>
              <p:cNvGrpSpPr/>
              <p:nvPr/>
            </p:nvGrpSpPr>
            <p:grpSpPr bwMode="auto">
              <a:xfrm>
                <a:off x="579618" y="1838251"/>
                <a:ext cx="11213318" cy="3204731"/>
                <a:chOff x="579618" y="1840734"/>
                <a:chExt cx="11213318" cy="3204731"/>
              </a:xfrm>
            </p:grpSpPr>
            <p:sp>
              <p:nvSpPr>
                <p:cNvPr id="59" name="Google Shape;59;p5"/>
                <p:cNvSpPr/>
                <p:nvPr/>
              </p:nvSpPr>
              <p:spPr bwMode="auto">
                <a:xfrm>
                  <a:off x="616194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F4EEF8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0" name="Google Shape;60;p5"/>
                <p:cNvSpPr/>
                <p:nvPr/>
              </p:nvSpPr>
              <p:spPr bwMode="auto">
                <a:xfrm>
                  <a:off x="616194" y="2866461"/>
                  <a:ext cx="1874520" cy="470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Storage</a:t>
                  </a: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1" name="Google Shape;61;p5"/>
                <p:cNvSpPr/>
                <p:nvPr/>
              </p:nvSpPr>
              <p:spPr bwMode="auto">
                <a:xfrm>
                  <a:off x="579618" y="3370389"/>
                  <a:ext cx="1947671" cy="645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MinIO</a:t>
                  </a: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 objects</a:t>
                  </a:r>
                  <a:endParaRPr sz="125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(read-only)</a:t>
                  </a:r>
                  <a:endParaRPr sz="125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4" name="Google Shape;64;p5"/>
                <p:cNvSpPr/>
                <p:nvPr/>
              </p:nvSpPr>
              <p:spPr bwMode="auto">
                <a:xfrm>
                  <a:off x="2903220" y="2730571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Adapter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5" name="Google Shape;65;p5"/>
                <p:cNvSpPr/>
                <p:nvPr/>
              </p:nvSpPr>
              <p:spPr bwMode="auto">
                <a:xfrm>
                  <a:off x="2903220" y="3320044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inventory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+ tags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alibri"/>
                      <a:cs typeface="Calibri"/>
                    </a:rPr>
                    <a:t>+mapper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7" name="Google Shape;67;p5"/>
                <p:cNvSpPr/>
                <p:nvPr/>
              </p:nvSpPr>
              <p:spPr bwMode="auto">
                <a:xfrm>
                  <a:off x="5251890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F4EEF8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8" name="Google Shape;68;p5"/>
                <p:cNvSpPr/>
                <p:nvPr/>
              </p:nvSpPr>
              <p:spPr bwMode="auto">
                <a:xfrm>
                  <a:off x="5251890" y="2603426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CDM</a:t>
                  </a: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69" name="Google Shape;69;p5"/>
                <p:cNvSpPr/>
                <p:nvPr/>
              </p:nvSpPr>
              <p:spPr bwMode="auto">
                <a:xfrm>
                  <a:off x="5251890" y="3208825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7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validate</a:t>
                  </a:r>
                  <a:endParaRPr sz="17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7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+ model + completeness check</a:t>
                  </a:r>
                  <a:endParaRPr sz="17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1" name="Google Shape;71;p5"/>
                <p:cNvSpPr/>
                <p:nvPr/>
              </p:nvSpPr>
              <p:spPr bwMode="auto">
                <a:xfrm>
                  <a:off x="7590286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2B1B3D">
                    <a:alpha val="89000"/>
                  </a:srgbClr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2" name="Google Shape;72;p5"/>
                <p:cNvSpPr/>
                <p:nvPr/>
              </p:nvSpPr>
              <p:spPr bwMode="auto">
                <a:xfrm>
                  <a:off x="7590286" y="2879433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Gen3 files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3" name="Google Shape;73;p5"/>
                <p:cNvSpPr/>
                <p:nvPr/>
              </p:nvSpPr>
              <p:spPr bwMode="auto">
                <a:xfrm>
                  <a:off x="7590286" y="3373209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submission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TSVs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5" name="Google Shape;75;p5"/>
                <p:cNvSpPr/>
                <p:nvPr/>
              </p:nvSpPr>
              <p:spPr bwMode="auto">
                <a:xfrm>
                  <a:off x="9918416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637183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6" name="Google Shape;76;p5"/>
                <p:cNvSpPr/>
                <p:nvPr/>
              </p:nvSpPr>
              <p:spPr bwMode="auto">
                <a:xfrm>
                  <a:off x="9918416" y="2875078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Commons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77" name="Google Shape;77;p5"/>
                <p:cNvSpPr/>
                <p:nvPr/>
              </p:nvSpPr>
              <p:spPr bwMode="auto">
                <a:xfrm>
                  <a:off x="9918416" y="3373209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TRE portal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(platform)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5" name="Arrow: Curved Up 4"/>
                <p:cNvSpPr/>
                <p:nvPr/>
              </p:nvSpPr>
              <p:spPr bwMode="auto">
                <a:xfrm>
                  <a:off x="1545336" y="4121039"/>
                  <a:ext cx="1947671" cy="324582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Arrow: Curved Up 35"/>
                <p:cNvSpPr/>
                <p:nvPr/>
              </p:nvSpPr>
              <p:spPr bwMode="auto">
                <a:xfrm>
                  <a:off x="3845690" y="4098726"/>
                  <a:ext cx="1947671" cy="324582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Arrow: Curved Up 38"/>
                <p:cNvSpPr/>
                <p:nvPr/>
              </p:nvSpPr>
              <p:spPr bwMode="auto">
                <a:xfrm flipV="1">
                  <a:off x="6217920" y="2370220"/>
                  <a:ext cx="1874520" cy="321748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Google Shape;64;p5"/>
                <p:cNvSpPr/>
                <p:nvPr/>
              </p:nvSpPr>
              <p:spPr bwMode="auto">
                <a:xfrm>
                  <a:off x="1645920" y="4512465"/>
                  <a:ext cx="1439436" cy="5330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Raw objects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alibri"/>
                      <a:cs typeface="Calibri"/>
                    </a:rPr>
                    <a:t>and buckets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41" name="Google Shape;64;p5"/>
                <p:cNvSpPr/>
                <p:nvPr/>
              </p:nvSpPr>
              <p:spPr bwMode="auto">
                <a:xfrm>
                  <a:off x="4218042" y="4528425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Curated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YAML files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42" name="Google Shape;64;p5"/>
                <p:cNvSpPr/>
                <p:nvPr/>
              </p:nvSpPr>
              <p:spPr bwMode="auto">
                <a:xfrm>
                  <a:off x="6415629" y="1868789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JSON files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44" name="Google Shape;64;p5"/>
                <p:cNvSpPr/>
                <p:nvPr/>
              </p:nvSpPr>
              <p:spPr bwMode="auto">
                <a:xfrm>
                  <a:off x="8646024" y="1840734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Gen3 ready TSVs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50" name="Google Shape;64;p5"/>
                <p:cNvSpPr/>
                <p:nvPr/>
              </p:nvSpPr>
              <p:spPr bwMode="auto">
                <a:xfrm>
                  <a:off x="2903220" y="2730631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Adapter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</p:grpSp>
          <p:sp>
            <p:nvSpPr>
              <p:cNvPr id="46" name="Google Shape;109;p9"/>
              <p:cNvSpPr/>
              <p:nvPr/>
            </p:nvSpPr>
            <p:spPr bwMode="auto">
              <a:xfrm>
                <a:off x="2558460" y="3141790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47" name="Google Shape;109;p9"/>
              <p:cNvSpPr/>
              <p:nvPr/>
            </p:nvSpPr>
            <p:spPr bwMode="auto">
              <a:xfrm>
                <a:off x="4850942" y="3129825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48" name="Google Shape;109;p9"/>
              <p:cNvSpPr/>
              <p:nvPr/>
            </p:nvSpPr>
            <p:spPr bwMode="auto">
              <a:xfrm>
                <a:off x="7180609" y="3129901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49" name="Google Shape;109;p9"/>
              <p:cNvSpPr/>
              <p:nvPr/>
            </p:nvSpPr>
            <p:spPr bwMode="auto">
              <a:xfrm>
                <a:off x="9521834" y="3120028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510031575" name="Group 83"/>
          <p:cNvGrpSpPr/>
          <p:nvPr/>
        </p:nvGrpSpPr>
        <p:grpSpPr bwMode="auto">
          <a:xfrm>
            <a:off x="664859" y="2353426"/>
            <a:ext cx="11213318" cy="3204731"/>
            <a:chOff x="579618" y="1838251"/>
            <a:chExt cx="11213318" cy="3204731"/>
          </a:xfrm>
        </p:grpSpPr>
        <p:sp>
          <p:nvSpPr>
            <p:cNvPr id="85" name="Arrow: Curved Up 84"/>
            <p:cNvSpPr/>
            <p:nvPr/>
          </p:nvSpPr>
          <p:spPr bwMode="auto">
            <a:xfrm flipV="1">
              <a:off x="8584574" y="2353497"/>
              <a:ext cx="1874520" cy="321748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78005F"/>
            </a:solidFill>
            <a:ln>
              <a:solidFill>
                <a:srgbClr val="7800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chemeClr val="tx1"/>
                </a:solidFill>
              </a:endParaRPr>
            </a:p>
          </p:txBody>
        </p:sp>
        <p:grpSp>
          <p:nvGrpSpPr>
            <p:cNvPr id="86" name="Group 85"/>
            <p:cNvGrpSpPr/>
            <p:nvPr/>
          </p:nvGrpSpPr>
          <p:grpSpPr bwMode="auto">
            <a:xfrm>
              <a:off x="579618" y="1838251"/>
              <a:ext cx="11213318" cy="3204731"/>
              <a:chOff x="579618" y="1838251"/>
              <a:chExt cx="11213318" cy="3204731"/>
            </a:xfrm>
          </p:grpSpPr>
          <p:sp>
            <p:nvSpPr>
              <p:cNvPr id="87" name="Google Shape;63;p5"/>
              <p:cNvSpPr/>
              <p:nvPr/>
            </p:nvSpPr>
            <p:spPr bwMode="auto">
              <a:xfrm>
                <a:off x="2903220" y="2714841"/>
                <a:ext cx="1870799" cy="1371600"/>
              </a:xfrm>
              <a:prstGeom prst="roundRect">
                <a:avLst>
                  <a:gd name="adj" fmla="val 6667"/>
                </a:avLst>
              </a:prstGeom>
              <a:solidFill>
                <a:srgbClr val="2B1B3D">
                  <a:alpha val="89000"/>
                </a:srgbClr>
              </a:solidFill>
              <a:ln>
                <a:noFill/>
              </a:ln>
              <a:effectLst>
                <a:outerShdw blurRad="76200" dist="38100" dir="5400000" algn="bl" rotWithShape="0">
                  <a:srgbClr val="0E3A46">
                    <a:alpha val="18039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dk1"/>
                  </a:solidFill>
                  <a:latin typeface="+mj-lt"/>
                  <a:ea typeface="Calibri"/>
                  <a:cs typeface="Calibri"/>
                </a:endParaRPr>
              </a:p>
            </p:txBody>
          </p:sp>
          <p:grpSp>
            <p:nvGrpSpPr>
              <p:cNvPr id="88" name="Group 87"/>
              <p:cNvGrpSpPr/>
              <p:nvPr/>
            </p:nvGrpSpPr>
            <p:grpSpPr bwMode="auto">
              <a:xfrm>
                <a:off x="579618" y="1838251"/>
                <a:ext cx="11213318" cy="3204731"/>
                <a:chOff x="579618" y="1840734"/>
                <a:chExt cx="11213318" cy="3204731"/>
              </a:xfrm>
            </p:grpSpPr>
            <p:sp>
              <p:nvSpPr>
                <p:cNvPr id="93" name="Google Shape;59;p5"/>
                <p:cNvSpPr/>
                <p:nvPr/>
              </p:nvSpPr>
              <p:spPr bwMode="auto">
                <a:xfrm>
                  <a:off x="616194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F4EEF8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4" name="Google Shape;60;p5"/>
                <p:cNvSpPr/>
                <p:nvPr/>
              </p:nvSpPr>
              <p:spPr bwMode="auto">
                <a:xfrm>
                  <a:off x="616194" y="2866461"/>
                  <a:ext cx="1874520" cy="470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Storage</a:t>
                  </a: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5" name="Google Shape;61;p5"/>
                <p:cNvSpPr/>
                <p:nvPr/>
              </p:nvSpPr>
              <p:spPr bwMode="auto">
                <a:xfrm>
                  <a:off x="579618" y="3370389"/>
                  <a:ext cx="1947671" cy="645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MinIO</a:t>
                  </a: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 objects</a:t>
                  </a:r>
                  <a:endParaRPr sz="125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(read-only)</a:t>
                  </a:r>
                  <a:endParaRPr sz="125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6" name="Google Shape;64;p5"/>
                <p:cNvSpPr/>
                <p:nvPr/>
              </p:nvSpPr>
              <p:spPr bwMode="auto">
                <a:xfrm>
                  <a:off x="2903220" y="2730571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Adapter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7" name="Google Shape;65;p5"/>
                <p:cNvSpPr/>
                <p:nvPr/>
              </p:nvSpPr>
              <p:spPr bwMode="auto">
                <a:xfrm>
                  <a:off x="2903220" y="3320044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inventory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+ tags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alibri"/>
                      <a:cs typeface="Calibri"/>
                    </a:rPr>
                    <a:t>+mapper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8" name="Google Shape;67;p5"/>
                <p:cNvSpPr/>
                <p:nvPr/>
              </p:nvSpPr>
              <p:spPr bwMode="auto">
                <a:xfrm>
                  <a:off x="5251890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F4EEF8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99" name="Google Shape;68;p5"/>
                <p:cNvSpPr/>
                <p:nvPr/>
              </p:nvSpPr>
              <p:spPr bwMode="auto">
                <a:xfrm>
                  <a:off x="5251890" y="2603426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CDM</a:t>
                  </a:r>
                  <a:endParaRPr sz="18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0" name="Google Shape;69;p5"/>
                <p:cNvSpPr/>
                <p:nvPr/>
              </p:nvSpPr>
              <p:spPr bwMode="auto">
                <a:xfrm>
                  <a:off x="5251890" y="3208825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7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validate</a:t>
                  </a:r>
                  <a:endParaRPr sz="17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700">
                      <a:solidFill>
                        <a:srgbClr val="78005F"/>
                      </a:solidFill>
                      <a:latin typeface="+mj-lt"/>
                      <a:ea typeface="Comic Sans MS"/>
                      <a:cs typeface="Comic Sans MS"/>
                    </a:rPr>
                    <a:t>+ model + completeness check</a:t>
                  </a:r>
                  <a:endParaRPr sz="1700">
                    <a:solidFill>
                      <a:srgbClr val="78005F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1" name="Google Shape;71;p5"/>
                <p:cNvSpPr/>
                <p:nvPr/>
              </p:nvSpPr>
              <p:spPr bwMode="auto">
                <a:xfrm>
                  <a:off x="7590286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2B1B3D">
                    <a:alpha val="89000"/>
                  </a:srgbClr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2" name="Google Shape;72;p5"/>
                <p:cNvSpPr/>
                <p:nvPr/>
              </p:nvSpPr>
              <p:spPr bwMode="auto">
                <a:xfrm>
                  <a:off x="7590286" y="2879433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Gen3 files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3" name="Google Shape;73;p5"/>
                <p:cNvSpPr/>
                <p:nvPr/>
              </p:nvSpPr>
              <p:spPr bwMode="auto">
                <a:xfrm>
                  <a:off x="7590286" y="3373209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submission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TSVs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4" name="Google Shape;75;p5"/>
                <p:cNvSpPr/>
                <p:nvPr/>
              </p:nvSpPr>
              <p:spPr bwMode="auto">
                <a:xfrm>
                  <a:off x="9918416" y="2714841"/>
                  <a:ext cx="1874520" cy="137160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637183"/>
                </a:solidFill>
                <a:ln>
                  <a:noFill/>
                </a:ln>
                <a:effectLst>
                  <a:outerShdw blurRad="76200" dist="38100" dir="5400000" algn="bl" rotWithShape="0">
                    <a:srgbClr val="0E3A46">
                      <a:alpha val="18039"/>
                    </a:srgbClr>
                  </a:outerShdw>
                </a:effectLst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5" name="Google Shape;76;p5"/>
                <p:cNvSpPr/>
                <p:nvPr/>
              </p:nvSpPr>
              <p:spPr bwMode="auto">
                <a:xfrm>
                  <a:off x="9918416" y="2875078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Commons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6" name="Google Shape;77;p5"/>
                <p:cNvSpPr/>
                <p:nvPr/>
              </p:nvSpPr>
              <p:spPr bwMode="auto">
                <a:xfrm>
                  <a:off x="9918416" y="3373209"/>
                  <a:ext cx="187452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TRE portal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7EFF6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>
                      <a:solidFill>
                        <a:srgbClr val="E7EFF6"/>
                      </a:solidFill>
                      <a:latin typeface="+mj-lt"/>
                      <a:ea typeface="Comic Sans MS"/>
                      <a:cs typeface="Comic Sans MS"/>
                    </a:rPr>
                    <a:t>(platform)</a:t>
                  </a:r>
                  <a:endParaRPr sz="125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07" name="Arrow: Curved Up 106"/>
                <p:cNvSpPr/>
                <p:nvPr/>
              </p:nvSpPr>
              <p:spPr bwMode="auto">
                <a:xfrm>
                  <a:off x="1545336" y="4121039"/>
                  <a:ext cx="1947671" cy="324582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Arrow: Curved Up 107"/>
                <p:cNvSpPr/>
                <p:nvPr/>
              </p:nvSpPr>
              <p:spPr bwMode="auto">
                <a:xfrm>
                  <a:off x="3845690" y="4098726"/>
                  <a:ext cx="1947671" cy="324582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Arrow: Curved Up 108"/>
                <p:cNvSpPr/>
                <p:nvPr/>
              </p:nvSpPr>
              <p:spPr bwMode="auto">
                <a:xfrm flipV="1">
                  <a:off x="6217920" y="2370220"/>
                  <a:ext cx="1874520" cy="321748"/>
                </a:xfrm>
                <a:prstGeom prst="curvedUpArrow">
                  <a:avLst>
                    <a:gd name="adj1" fmla="val 25000"/>
                    <a:gd name="adj2" fmla="val 50000"/>
                    <a:gd name="adj3" fmla="val 25000"/>
                  </a:avLst>
                </a:prstGeom>
                <a:solidFill>
                  <a:srgbClr val="78005F"/>
                </a:solidFill>
                <a:ln>
                  <a:solidFill>
                    <a:srgbClr val="7800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Google Shape;64;p5"/>
                <p:cNvSpPr/>
                <p:nvPr/>
              </p:nvSpPr>
              <p:spPr bwMode="auto">
                <a:xfrm>
                  <a:off x="1645920" y="4512465"/>
                  <a:ext cx="1439436" cy="5330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Raw objects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alibri"/>
                      <a:cs typeface="Calibri"/>
                    </a:rPr>
                    <a:t>and buckets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11" name="Google Shape;64;p5"/>
                <p:cNvSpPr/>
                <p:nvPr/>
              </p:nvSpPr>
              <p:spPr bwMode="auto">
                <a:xfrm>
                  <a:off x="4218042" y="4528425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Curated</a:t>
                  </a:r>
                  <a:endParaRPr/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YAML files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12" name="Google Shape;64;p5"/>
                <p:cNvSpPr/>
                <p:nvPr/>
              </p:nvSpPr>
              <p:spPr bwMode="auto">
                <a:xfrm>
                  <a:off x="6415629" y="1868789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JSON files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13" name="Google Shape;64;p5"/>
                <p:cNvSpPr/>
                <p:nvPr/>
              </p:nvSpPr>
              <p:spPr bwMode="auto">
                <a:xfrm>
                  <a:off x="8646024" y="1840734"/>
                  <a:ext cx="1439436" cy="457200"/>
                </a:xfrm>
                <a:prstGeom prst="rect">
                  <a:avLst/>
                </a:prstGeom>
                <a:solidFill>
                  <a:srgbClr val="F7D6E9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500" b="1">
                      <a:solidFill>
                        <a:schemeClr val="tx1"/>
                      </a:solidFill>
                      <a:latin typeface="+mj-lt"/>
                      <a:ea typeface="Comic Sans MS"/>
                      <a:cs typeface="Comic Sans MS"/>
                    </a:rPr>
                    <a:t>Gen3 ready TSVs</a:t>
                  </a:r>
                  <a:endParaRPr sz="150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  <p:sp>
              <p:nvSpPr>
                <p:cNvPr id="114" name="Google Shape;64;p5"/>
                <p:cNvSpPr/>
                <p:nvPr/>
              </p:nvSpPr>
              <p:spPr bwMode="auto">
                <a:xfrm>
                  <a:off x="2903220" y="2730631"/>
                  <a:ext cx="187452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omic Sans MS"/>
                    <a:buNone/>
                    <a:defRPr/>
                  </a:pPr>
                  <a:r>
                    <a:rPr lang="en-US" sz="1800" b="1">
                      <a:solidFill>
                        <a:srgbClr val="FFFFFF"/>
                      </a:solidFill>
                      <a:latin typeface="+mj-lt"/>
                      <a:ea typeface="Comic Sans MS"/>
                      <a:cs typeface="Comic Sans MS"/>
                    </a:rPr>
                    <a:t>Adapter</a:t>
                  </a:r>
                  <a:endParaRPr sz="180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</a:endParaRPr>
                </a:p>
              </p:txBody>
            </p:sp>
          </p:grpSp>
          <p:sp>
            <p:nvSpPr>
              <p:cNvPr id="89" name="Google Shape;109;p9"/>
              <p:cNvSpPr/>
              <p:nvPr/>
            </p:nvSpPr>
            <p:spPr bwMode="auto">
              <a:xfrm>
                <a:off x="2558460" y="3141790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0" name="Google Shape;109;p9"/>
              <p:cNvSpPr/>
              <p:nvPr/>
            </p:nvSpPr>
            <p:spPr bwMode="auto">
              <a:xfrm>
                <a:off x="4850942" y="3129825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1" name="Google Shape;109;p9"/>
              <p:cNvSpPr/>
              <p:nvPr/>
            </p:nvSpPr>
            <p:spPr bwMode="auto">
              <a:xfrm>
                <a:off x="7180609" y="3129901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92" name="Google Shape;109;p9"/>
              <p:cNvSpPr/>
              <p:nvPr/>
            </p:nvSpPr>
            <p:spPr bwMode="auto">
              <a:xfrm>
                <a:off x="9521834" y="3120028"/>
                <a:ext cx="365760" cy="457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80004C"/>
              </a:solidFill>
              <a:ln w="9525" cap="flat" cmpd="sng">
                <a:solidFill>
                  <a:srgbClr val="2B1B3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47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815248" name="Google Shape;155;p8"/>
          <p:cNvSpPr/>
          <p:nvPr/>
        </p:nvSpPr>
        <p:spPr bwMode="auto">
          <a:xfrm>
            <a:off x="448057" y="349541"/>
            <a:ext cx="11051697" cy="1244045"/>
          </a:xfrm>
          <a:prstGeom prst="roundRect">
            <a:avLst>
              <a:gd name="adj" fmla="val 4878"/>
            </a:avLst>
          </a:prstGeom>
          <a:solidFill>
            <a:srgbClr val="F7D6E9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185836" name="Google Shape;153;p8"/>
          <p:cNvSpPr/>
          <p:nvPr/>
        </p:nvSpPr>
        <p:spPr bwMode="auto">
          <a:xfrm>
            <a:off x="548640" y="455233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8FF"/>
              </a:buClr>
              <a:buSzPts val="1800"/>
              <a:buFont typeface="Comic Sans MS"/>
              <a:buNone/>
              <a:defRPr/>
            </a:pPr>
            <a:r>
              <a:rPr lang="en-US" sz="1200" b="1">
                <a:solidFill>
                  <a:srgbClr val="693B9E"/>
                </a:solidFill>
                <a:latin typeface="+mj-lt"/>
                <a:ea typeface="Calibri"/>
                <a:cs typeface="Calibri"/>
              </a:rPr>
              <a:t>WHAT I DID…</a:t>
            </a:r>
            <a:endParaRPr lang="en-US" sz="1200">
              <a:solidFill>
                <a:srgbClr val="693B9E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133314577" name="Google Shape;154;p8"/>
          <p:cNvSpPr/>
          <p:nvPr/>
        </p:nvSpPr>
        <p:spPr bwMode="auto">
          <a:xfrm>
            <a:off x="548640" y="749808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  <a:defRPr/>
            </a:pPr>
            <a:r>
              <a:rPr lang="en-US" sz="2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Four design choices and their trade-offs</a:t>
            </a:r>
            <a:endParaRPr sz="30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191032494" name="Google Shape;155;p8"/>
          <p:cNvSpPr/>
          <p:nvPr/>
        </p:nvSpPr>
        <p:spPr bwMode="auto">
          <a:xfrm>
            <a:off x="432817" y="1828800"/>
            <a:ext cx="5510783" cy="2010300"/>
          </a:xfrm>
          <a:prstGeom prst="roundRect">
            <a:avLst>
              <a:gd name="adj" fmla="val 4878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506338233" name="Group 3"/>
          <p:cNvGrpSpPr/>
          <p:nvPr/>
        </p:nvGrpSpPr>
        <p:grpSpPr bwMode="auto">
          <a:xfrm>
            <a:off x="579120" y="1893765"/>
            <a:ext cx="1804788" cy="502920"/>
            <a:chOff x="579120" y="1893765"/>
            <a:chExt cx="1804788" cy="502920"/>
          </a:xfrm>
        </p:grpSpPr>
        <p:sp>
          <p:nvSpPr>
            <p:cNvPr id="156" name="Google Shape;156;p8"/>
            <p:cNvSpPr/>
            <p:nvPr/>
          </p:nvSpPr>
          <p:spPr bwMode="auto">
            <a:xfrm>
              <a:off x="646548" y="1893765"/>
              <a:ext cx="1737360" cy="502920"/>
            </a:xfrm>
            <a:prstGeom prst="roundRect">
              <a:avLst>
                <a:gd name="adj" fmla="val 49091"/>
              </a:avLst>
            </a:prstGeom>
            <a:solidFill>
              <a:srgbClr val="693B9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 bwMode="auto">
            <a:xfrm>
              <a:off x="579120" y="190124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omic Sans MS"/>
                <a:buNone/>
                <a:defRPr/>
              </a:pPr>
              <a:r>
                <a:rPr lang="en-US" sz="1800" b="1">
                  <a:solidFill>
                    <a:srgbClr val="FFFFFF"/>
                  </a:solidFill>
                  <a:latin typeface="+mj-lt"/>
                  <a:ea typeface="Comic Sans MS"/>
                  <a:cs typeface="Comic Sans MS"/>
                </a:rPr>
                <a:t>Modular</a:t>
              </a:r>
              <a:endParaRPr sz="1500">
                <a:solidFill>
                  <a:schemeClr val="dk1"/>
                </a:solidFill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1907468358" name="Google Shape;158;p8"/>
          <p:cNvSpPr/>
          <p:nvPr/>
        </p:nvSpPr>
        <p:spPr bwMode="auto">
          <a:xfrm>
            <a:off x="579119" y="2516937"/>
            <a:ext cx="5311315" cy="46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Each stage is a separate script: adapter, converter, TSV generator.</a:t>
            </a:r>
            <a:endParaRPr sz="1350" b="1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922394537" name="Google Shape;159;p8"/>
          <p:cNvSpPr/>
          <p:nvPr/>
        </p:nvSpPr>
        <p:spPr bwMode="auto">
          <a:xfrm>
            <a:off x="579121" y="3115336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7183"/>
              </a:buClr>
              <a:buSzPts val="1800"/>
              <a:buFont typeface="Comic Sans MS"/>
              <a:buNone/>
              <a:defRPr/>
            </a:pP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Trade-off: more interfaces to define and maintain.</a:t>
            </a:r>
            <a:endParaRPr sz="1050">
              <a:solidFill>
                <a:schemeClr val="dk1"/>
              </a:solidFill>
              <a:latin typeface="OCR A Extended"/>
              <a:ea typeface="Calibri"/>
              <a:cs typeface="Calibri"/>
            </a:endParaRPr>
          </a:p>
        </p:txBody>
      </p:sp>
      <p:sp>
        <p:nvSpPr>
          <p:cNvPr id="157064798" name="Google Shape;160;p8"/>
          <p:cNvSpPr/>
          <p:nvPr/>
        </p:nvSpPr>
        <p:spPr bwMode="auto">
          <a:xfrm>
            <a:off x="6187812" y="1828799"/>
            <a:ext cx="5425068" cy="2010299"/>
          </a:xfrm>
          <a:prstGeom prst="roundRect">
            <a:avLst>
              <a:gd name="adj" fmla="val 4878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1178669" name="Google Shape;161;p8"/>
          <p:cNvSpPr/>
          <p:nvPr/>
        </p:nvSpPr>
        <p:spPr bwMode="auto">
          <a:xfrm>
            <a:off x="6303264" y="1898018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693B9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829334" name="Google Shape;162;p8"/>
          <p:cNvSpPr/>
          <p:nvPr/>
        </p:nvSpPr>
        <p:spPr bwMode="auto">
          <a:xfrm>
            <a:off x="6303264" y="191099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+mj-lt"/>
                <a:ea typeface="Comic Sans MS"/>
                <a:cs typeface="Comic Sans MS"/>
              </a:rPr>
              <a:t>Extendible</a:t>
            </a:r>
            <a:endParaRPr sz="15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27037175" name="Google Shape;163;p8"/>
          <p:cNvSpPr/>
          <p:nvPr/>
        </p:nvSpPr>
        <p:spPr bwMode="auto">
          <a:xfrm>
            <a:off x="6342538" y="2532886"/>
            <a:ext cx="5157216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One common spine + a small extension per modality.</a:t>
            </a:r>
            <a:endParaRPr sz="1350" b="1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45041777" name="Google Shape;164;p8"/>
          <p:cNvSpPr/>
          <p:nvPr/>
        </p:nvSpPr>
        <p:spPr bwMode="auto">
          <a:xfrm>
            <a:off x="6342539" y="3115336"/>
            <a:ext cx="52703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7183"/>
              </a:buClr>
              <a:buSzPts val="1800"/>
              <a:buFont typeface="Comic Sans MS"/>
              <a:buNone/>
              <a:defRPr/>
            </a:pP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Trade-off: more upfront design to get the spine right, pays off every modality after.</a:t>
            </a:r>
            <a:endParaRPr sz="1050">
              <a:solidFill>
                <a:schemeClr val="dk1"/>
              </a:solidFill>
              <a:latin typeface="OCR A Extended"/>
              <a:ea typeface="Calibri"/>
              <a:cs typeface="Calibri"/>
            </a:endParaRPr>
          </a:p>
        </p:txBody>
      </p:sp>
      <p:sp>
        <p:nvSpPr>
          <p:cNvPr id="1020063798" name="Google Shape;165;p8"/>
          <p:cNvSpPr/>
          <p:nvPr/>
        </p:nvSpPr>
        <p:spPr bwMode="auto">
          <a:xfrm>
            <a:off x="432816" y="3959352"/>
            <a:ext cx="5510784" cy="2148840"/>
          </a:xfrm>
          <a:prstGeom prst="roundRect">
            <a:avLst>
              <a:gd name="adj" fmla="val 4878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8574870" name="Google Shape;166;p8"/>
          <p:cNvSpPr/>
          <p:nvPr/>
        </p:nvSpPr>
        <p:spPr bwMode="auto">
          <a:xfrm>
            <a:off x="658368" y="40233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693B9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3147604" name="Google Shape;167;p8"/>
          <p:cNvSpPr/>
          <p:nvPr/>
        </p:nvSpPr>
        <p:spPr bwMode="auto">
          <a:xfrm>
            <a:off x="579120" y="4041967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+mj-lt"/>
                <a:ea typeface="Comic Sans MS"/>
                <a:cs typeface="Comic Sans MS"/>
              </a:rPr>
              <a:t>Scalable</a:t>
            </a:r>
            <a:endParaRPr sz="15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09491223" name="Google Shape;168;p8"/>
          <p:cNvSpPr/>
          <p:nvPr/>
        </p:nvSpPr>
        <p:spPr bwMode="auto">
          <a:xfrm>
            <a:off x="579120" y="4608895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Adapter is read-only and stateless; more buckets = config, not code.</a:t>
            </a:r>
            <a:endParaRPr sz="1350" b="1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891663947" name="Google Shape;169;p8"/>
          <p:cNvSpPr/>
          <p:nvPr/>
        </p:nvSpPr>
        <p:spPr bwMode="auto">
          <a:xfrm>
            <a:off x="605203" y="5277787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7183"/>
              </a:buClr>
              <a:buSzPts val="1800"/>
              <a:buFont typeface="Comic Sans MS"/>
              <a:buNone/>
              <a:defRPr/>
            </a:pP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Trade-off: proven on one pilot now; full-estate conversion is a repeatable next step.</a:t>
            </a:r>
            <a:endParaRPr sz="1050">
              <a:solidFill>
                <a:schemeClr val="dk1"/>
              </a:solidFill>
              <a:latin typeface="OCR A Extended"/>
              <a:ea typeface="Calibri"/>
              <a:cs typeface="Calibri"/>
            </a:endParaRPr>
          </a:p>
        </p:txBody>
      </p:sp>
      <p:sp>
        <p:nvSpPr>
          <p:cNvPr id="1395710936" name="Google Shape;170;p8"/>
          <p:cNvSpPr/>
          <p:nvPr/>
        </p:nvSpPr>
        <p:spPr bwMode="auto">
          <a:xfrm>
            <a:off x="6199632" y="3959351"/>
            <a:ext cx="5413248" cy="2148840"/>
          </a:xfrm>
          <a:prstGeom prst="roundRect">
            <a:avLst>
              <a:gd name="adj" fmla="val 4878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150465" name="Google Shape;171;p8"/>
          <p:cNvSpPr/>
          <p:nvPr/>
        </p:nvSpPr>
        <p:spPr bwMode="auto">
          <a:xfrm>
            <a:off x="6342538" y="4023360"/>
            <a:ext cx="1685894" cy="502920"/>
          </a:xfrm>
          <a:prstGeom prst="roundRect">
            <a:avLst>
              <a:gd name="adj" fmla="val 49091"/>
            </a:avLst>
          </a:prstGeom>
          <a:solidFill>
            <a:srgbClr val="693B9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017042959" name="Google Shape;172;p8"/>
          <p:cNvSpPr/>
          <p:nvPr/>
        </p:nvSpPr>
        <p:spPr bwMode="auto">
          <a:xfrm>
            <a:off x="6336025" y="403771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mic Sans MS"/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+mj-lt"/>
                <a:ea typeface="Comic Sans MS"/>
                <a:cs typeface="Comic Sans MS"/>
              </a:rPr>
              <a:t>Interoperable</a:t>
            </a:r>
            <a:endParaRPr sz="1500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233375401" name="Google Shape;173;p8"/>
          <p:cNvSpPr/>
          <p:nvPr/>
        </p:nvSpPr>
        <p:spPr bwMode="auto">
          <a:xfrm>
            <a:off x="6342538" y="4628563"/>
            <a:ext cx="485659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ic Sans MS"/>
              <a:buNone/>
              <a:defRPr/>
            </a:pPr>
            <a:r>
              <a:rPr lang="en-US" sz="1700" b="1">
                <a:solidFill>
                  <a:srgbClr val="000000"/>
                </a:solidFill>
                <a:latin typeface="+mj-lt"/>
                <a:ea typeface="Comic Sans MS"/>
                <a:cs typeface="Comic Sans MS"/>
              </a:rPr>
              <a:t>Targets Gen3 + GA4GH DRS-compatible file identifiers.</a:t>
            </a:r>
            <a:endParaRPr sz="1350" b="1">
              <a:solidFill>
                <a:schemeClr val="dk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26711848" name="Google Shape;174;p8"/>
          <p:cNvSpPr/>
          <p:nvPr/>
        </p:nvSpPr>
        <p:spPr bwMode="auto">
          <a:xfrm>
            <a:off x="6217920" y="5330952"/>
            <a:ext cx="54498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7183"/>
              </a:buClr>
              <a:buSzPts val="1700"/>
              <a:buFont typeface="Comic Sans MS"/>
              <a:buNone/>
              <a:defRPr/>
            </a:pP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Honest limit: not automatic semantic interop – each Gen3 dictionary is </a:t>
            </a: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customised</a:t>
            </a:r>
            <a:r>
              <a:rPr lang="en-US" i="1">
                <a:solidFill>
                  <a:srgbClr val="637183"/>
                </a:solidFill>
                <a:latin typeface="OCR A Extended"/>
                <a:ea typeface="Comic Sans MS"/>
                <a:cs typeface="Comic Sans MS"/>
              </a:rPr>
              <a:t>, so schema mapping stays our own work.</a:t>
            </a:r>
            <a:endParaRPr sz="1050">
              <a:solidFill>
                <a:schemeClr val="dk1"/>
              </a:solidFill>
              <a:latin typeface="OCR A Extended"/>
              <a:ea typeface="Calibri"/>
              <a:cs typeface="Calibri"/>
            </a:endParaRPr>
          </a:p>
        </p:txBody>
      </p:sp>
      <p:sp>
        <p:nvSpPr>
          <p:cNvPr id="708111351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gradFill>
            <a:gsLst>
              <a:gs pos="0">
                <a:srgbClr val="F4EEF8">
                  <a:shade val="30000"/>
                  <a:satMod val="115000"/>
                </a:srgbClr>
              </a:gs>
              <a:gs pos="50000">
                <a:srgbClr val="F4EEF8">
                  <a:shade val="67500"/>
                  <a:satMod val="115000"/>
                </a:srgbClr>
              </a:gs>
              <a:gs pos="100000">
                <a:srgbClr val="F4EEF8">
                  <a:shade val="100000"/>
                  <a:satMod val="115000"/>
                </a:srgb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625260" name="Google Shape;137;p10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200"/>
              <a:buFont typeface="Arial"/>
              <a:buNone/>
              <a:defRPr/>
            </a:pPr>
            <a:r>
              <a:rPr lang="en-US" sz="12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RESULTS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2742298" name="Google Shape;138;p10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It works, the numbers show it. What does it demonstrate?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6292521" name="Google Shape;139;p10"/>
          <p:cNvSpPr/>
          <p:nvPr/>
        </p:nvSpPr>
        <p:spPr bwMode="auto">
          <a:xfrm>
            <a:off x="640080" y="15544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500"/>
              <a:buFont typeface="Arial"/>
              <a:buNone/>
              <a:defRPr/>
            </a:pPr>
            <a:r>
              <a:rPr lang="en-US" sz="1500">
                <a:solidFill>
                  <a:srgbClr val="6B6478"/>
                </a:solidFill>
                <a:latin typeface="Arial"/>
                <a:ea typeface="Arial"/>
                <a:cs typeface="Arial"/>
              </a:rPr>
              <a:t>Three data types fully standardised end to end, then measured for completeness: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6915816" name="Google Shape;140;p10"/>
          <p:cNvSpPr/>
          <p:nvPr/>
        </p:nvSpPr>
        <p:spPr bwMode="auto">
          <a:xfrm>
            <a:off x="701040" y="2116836"/>
            <a:ext cx="3291840" cy="1581912"/>
          </a:xfrm>
          <a:prstGeom prst="roundRect">
            <a:avLst>
              <a:gd name="adj" fmla="val 4444"/>
            </a:avLst>
          </a:prstGeom>
          <a:solidFill>
            <a:srgbClr val="F4EEF8"/>
          </a:soli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3842974" name="Google Shape;141;p10"/>
          <p:cNvSpPr/>
          <p:nvPr/>
        </p:nvSpPr>
        <p:spPr bwMode="auto">
          <a:xfrm>
            <a:off x="701040" y="2247223"/>
            <a:ext cx="3291840" cy="64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4600"/>
              <a:buFont typeface="Arial"/>
              <a:buNone/>
              <a:defRPr/>
            </a:pPr>
            <a:r>
              <a:rPr lang="en-US" sz="46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96.6%</a:t>
            </a:r>
            <a:endParaRPr sz="4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3585771" name="Google Shape;142;p10"/>
          <p:cNvSpPr/>
          <p:nvPr/>
        </p:nvSpPr>
        <p:spPr bwMode="auto">
          <a:xfrm>
            <a:off x="701040" y="2981106"/>
            <a:ext cx="3291840" cy="26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1600"/>
              <a:buFont typeface="Arial"/>
              <a:buNone/>
              <a:defRPr/>
            </a:pPr>
            <a:r>
              <a:rPr lang="en-US" sz="1600" b="1">
                <a:solidFill>
                  <a:srgbClr val="2E2438"/>
                </a:solidFill>
                <a:latin typeface="Arial"/>
                <a:ea typeface="Arial"/>
                <a:cs typeface="Arial"/>
              </a:rPr>
              <a:t>Genotyping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4727521" name="Google Shape;143;p10"/>
          <p:cNvSpPr/>
          <p:nvPr/>
        </p:nvSpPr>
        <p:spPr bwMode="auto">
          <a:xfrm>
            <a:off x="4450080" y="2116836"/>
            <a:ext cx="3291840" cy="1581912"/>
          </a:xfrm>
          <a:prstGeom prst="roundRect">
            <a:avLst>
              <a:gd name="adj" fmla="val 4444"/>
            </a:avLst>
          </a:prstGeom>
          <a:solidFill>
            <a:srgbClr val="F4EEF8"/>
          </a:soli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8935009" name="Google Shape;144;p10"/>
          <p:cNvSpPr/>
          <p:nvPr/>
        </p:nvSpPr>
        <p:spPr bwMode="auto">
          <a:xfrm>
            <a:off x="4450080" y="2247223"/>
            <a:ext cx="3291840" cy="64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4600"/>
              <a:buFont typeface="Arial"/>
              <a:buNone/>
              <a:defRPr/>
            </a:pPr>
            <a:r>
              <a:rPr lang="en-US" sz="46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100%</a:t>
            </a:r>
            <a:endParaRPr sz="4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5951735" name="Google Shape;145;p10"/>
          <p:cNvSpPr/>
          <p:nvPr/>
        </p:nvSpPr>
        <p:spPr bwMode="auto">
          <a:xfrm>
            <a:off x="4450080" y="2981106"/>
            <a:ext cx="3291840" cy="26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1600"/>
              <a:buFont typeface="Arial"/>
              <a:buNone/>
              <a:defRPr/>
            </a:pPr>
            <a:r>
              <a:rPr lang="en-US" sz="1600" b="1">
                <a:solidFill>
                  <a:srgbClr val="2E2438"/>
                </a:solidFill>
                <a:latin typeface="Arial"/>
                <a:ea typeface="Arial"/>
                <a:cs typeface="Arial"/>
              </a:rPr>
              <a:t>Methylation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5693964" name="Google Shape;146;p10"/>
          <p:cNvSpPr/>
          <p:nvPr/>
        </p:nvSpPr>
        <p:spPr bwMode="auto">
          <a:xfrm>
            <a:off x="8199120" y="2116836"/>
            <a:ext cx="3291840" cy="1581912"/>
          </a:xfrm>
          <a:prstGeom prst="roundRect">
            <a:avLst>
              <a:gd name="adj" fmla="val 4444"/>
            </a:avLst>
          </a:prstGeom>
          <a:solidFill>
            <a:srgbClr val="F4EEF8"/>
          </a:soli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2B1B3D">
                <a:alpha val="1607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2114592" name="Google Shape;147;p10"/>
          <p:cNvSpPr/>
          <p:nvPr/>
        </p:nvSpPr>
        <p:spPr bwMode="auto">
          <a:xfrm>
            <a:off x="8199120" y="2247223"/>
            <a:ext cx="3291840" cy="64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4600"/>
              <a:buFont typeface="Arial"/>
              <a:buNone/>
              <a:defRPr/>
            </a:pPr>
            <a:r>
              <a:rPr lang="en-US" sz="46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82.1%</a:t>
            </a:r>
            <a:endParaRPr sz="4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0398363" name="Google Shape;148;p10"/>
          <p:cNvSpPr/>
          <p:nvPr/>
        </p:nvSpPr>
        <p:spPr bwMode="auto">
          <a:xfrm>
            <a:off x="8199120" y="2981106"/>
            <a:ext cx="3291840" cy="26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1600"/>
              <a:buFont typeface="Arial"/>
              <a:buNone/>
              <a:defRPr/>
            </a:pPr>
            <a:r>
              <a:rPr lang="en-US" sz="1600" b="1">
                <a:solidFill>
                  <a:srgbClr val="2E2438"/>
                </a:solidFill>
                <a:latin typeface="Arial"/>
                <a:ea typeface="Arial"/>
                <a:cs typeface="Arial"/>
              </a:rPr>
              <a:t>GWAS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77443" name="Google Shape;149;p10"/>
          <p:cNvSpPr/>
          <p:nvPr/>
        </p:nvSpPr>
        <p:spPr bwMode="auto">
          <a:xfrm>
            <a:off x="640080" y="3865151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FAF7FC"/>
          </a:solidFill>
          <a:ln w="15875" cap="flat" cmpd="sng">
            <a:solidFill>
              <a:srgbClr val="D9A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8115078" name="Google Shape;150;p10"/>
          <p:cNvSpPr/>
          <p:nvPr/>
        </p:nvSpPr>
        <p:spPr bwMode="auto">
          <a:xfrm>
            <a:off x="640080" y="4002311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1400"/>
              <a:buFont typeface="Arial"/>
              <a:buNone/>
              <a:defRPr/>
            </a:pPr>
            <a:r>
              <a:rPr lang="en-US" sz="14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On the essential fields, every dataset reached 100%, nothing critical is missing.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1174603" name="Google Shape;152;p10"/>
          <p:cNvSpPr txBox="1"/>
          <p:nvPr/>
        </p:nvSpPr>
        <p:spPr bwMode="auto">
          <a:xfrm>
            <a:off x="914400" y="4795085"/>
            <a:ext cx="10058400" cy="145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A common structure can represent different omics modalities.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Automated validation makes missing or incomplete metadata visible.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The approach can be reused for additional datasets.</a:t>
            </a:r>
            <a:endParaRPr/>
          </a:p>
        </p:txBody>
      </p:sp>
      <p:sp>
        <p:nvSpPr>
          <p:cNvPr id="478212615" name="Google Shape;202;p10"/>
          <p:cNvSpPr/>
          <p:nvPr/>
        </p:nvSpPr>
        <p:spPr bwMode="auto">
          <a:xfrm>
            <a:off x="11759184" y="0"/>
            <a:ext cx="429768" cy="6858000"/>
          </a:xfrm>
          <a:prstGeom prst="rect">
            <a:avLst/>
          </a:prstGeom>
          <a:solidFill>
            <a:srgbClr val="F4EE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47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554343" name="Google Shape;155;p8"/>
          <p:cNvSpPr/>
          <p:nvPr/>
        </p:nvSpPr>
        <p:spPr bwMode="auto">
          <a:xfrm>
            <a:off x="448057" y="349541"/>
            <a:ext cx="11051697" cy="1244045"/>
          </a:xfrm>
          <a:prstGeom prst="roundRect">
            <a:avLst>
              <a:gd name="adj" fmla="val 4878"/>
            </a:avLst>
          </a:prstGeom>
          <a:solidFill>
            <a:srgbClr val="2B1B3D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38100" dir="5400000" algn="bl" rotWithShape="0">
              <a:srgbClr val="0E3A46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807681" name="Google Shape;205;p10"/>
          <p:cNvSpPr/>
          <p:nvPr/>
        </p:nvSpPr>
        <p:spPr bwMode="auto">
          <a:xfrm>
            <a:off x="548640" y="45720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8FF"/>
              </a:buClr>
              <a:buSzPts val="1800"/>
              <a:buFont typeface="Comic Sans MS"/>
              <a:buNone/>
              <a:defRPr/>
            </a:pPr>
            <a:r>
              <a:rPr lang="en-US" sz="1200" b="1">
                <a:solidFill>
                  <a:srgbClr val="F7D6E9"/>
                </a:solidFill>
                <a:latin typeface="+mj-lt"/>
                <a:ea typeface="Comic Sans MS"/>
                <a:cs typeface="Comic Sans MS"/>
              </a:rPr>
              <a:t>DATA INTEGRITY</a:t>
            </a:r>
            <a:endParaRPr sz="1200">
              <a:solidFill>
                <a:srgbClr val="F7D6E9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957266060" name="Google Shape;206;p10"/>
          <p:cNvSpPr/>
          <p:nvPr/>
        </p:nvSpPr>
        <p:spPr bwMode="auto">
          <a:xfrm>
            <a:off x="548640" y="749808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  <a:defRPr/>
            </a:pPr>
            <a:r>
              <a:rPr lang="en-US" sz="2800" b="1">
                <a:solidFill>
                  <a:schemeClr val="bg1"/>
                </a:solidFill>
                <a:latin typeface="+mj-lt"/>
                <a:ea typeface="Comic Sans MS"/>
                <a:cs typeface="Comic Sans MS"/>
              </a:rPr>
              <a:t>We never guess: Two failure modes, handled separately</a:t>
            </a:r>
            <a:endParaRPr sz="300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796696089" name="Google Shape;207;p10"/>
          <p:cNvSpPr/>
          <p:nvPr/>
        </p:nvSpPr>
        <p:spPr bwMode="auto">
          <a:xfrm>
            <a:off x="548640" y="1874520"/>
            <a:ext cx="5349240" cy="4233672"/>
          </a:xfrm>
          <a:prstGeom prst="roundRect">
            <a:avLst>
              <a:gd name="adj" fmla="val 3279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7824385" name="Google Shape;208;p10"/>
          <p:cNvSpPr/>
          <p:nvPr/>
        </p:nvSpPr>
        <p:spPr bwMode="auto">
          <a:xfrm>
            <a:off x="822960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8FF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78005F"/>
                </a:solidFill>
                <a:latin typeface="+mj-lt"/>
                <a:ea typeface="Comic Sans MS"/>
                <a:cs typeface="Comic Sans MS"/>
              </a:rPr>
              <a:t>WRONG values → rejected</a:t>
            </a:r>
            <a:endParaRPr sz="1350">
              <a:solidFill>
                <a:srgbClr val="78005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114601936" name="Google Shape;209;p10"/>
          <p:cNvSpPr/>
          <p:nvPr/>
        </p:nvSpPr>
        <p:spPr bwMode="auto">
          <a:xfrm>
            <a:off x="822958" y="2694642"/>
            <a:ext cx="4846321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Controlled vocabularies (</a:t>
            </a: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enums</a:t>
            </a: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) only permitted values allowed.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Pydantic</a:t>
            </a: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 v2 with extra = forbid - anything off-list is refused, not quietly kept.</a:t>
            </a:r>
            <a:endParaRPr/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Malformed records produce actionable errors, not silent bad data.</a:t>
            </a: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</p:txBody>
      </p:sp>
      <p:sp>
        <p:nvSpPr>
          <p:cNvPr id="785066851" name="Google Shape;210;p10"/>
          <p:cNvSpPr/>
          <p:nvPr/>
        </p:nvSpPr>
        <p:spPr bwMode="auto">
          <a:xfrm>
            <a:off x="6263640" y="1874519"/>
            <a:ext cx="5349240" cy="4233672"/>
          </a:xfrm>
          <a:prstGeom prst="roundRect">
            <a:avLst>
              <a:gd name="adj" fmla="val 3279"/>
            </a:avLst>
          </a:prstGeom>
          <a:solidFill>
            <a:srgbClr val="F4EEF8"/>
          </a:solidFill>
          <a:ln w="12700" cap="flat" cmpd="sng">
            <a:solidFill>
              <a:srgbClr val="CBDB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7559622" name="Google Shape;211;p10"/>
          <p:cNvSpPr/>
          <p:nvPr/>
        </p:nvSpPr>
        <p:spPr bwMode="auto">
          <a:xfrm>
            <a:off x="6537960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8FF"/>
              </a:buClr>
              <a:buSzPts val="1800"/>
              <a:buFont typeface="Comic Sans MS"/>
              <a:buNone/>
              <a:defRPr/>
            </a:pPr>
            <a:r>
              <a:rPr lang="en-US" sz="1800" b="1">
                <a:solidFill>
                  <a:srgbClr val="78005F"/>
                </a:solidFill>
                <a:latin typeface="+mj-lt"/>
                <a:ea typeface="Comic Sans MS"/>
                <a:cs typeface="Comic Sans MS"/>
              </a:rPr>
              <a:t>MISSING values → recorded honestly</a:t>
            </a:r>
            <a:endParaRPr sz="1350">
              <a:solidFill>
                <a:srgbClr val="78005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31322447" name="Google Shape;212;p10"/>
          <p:cNvSpPr/>
          <p:nvPr/>
        </p:nvSpPr>
        <p:spPr bwMode="auto">
          <a:xfrm>
            <a:off x="6417538" y="2606041"/>
            <a:ext cx="5087163" cy="199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'Unknown' is a permitted, standard value -never a blank, never a guess.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Provenance + confidence travel with every field (source, how sure).</a:t>
            </a:r>
            <a:endParaRPr/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  <a:defRPr/>
            </a:pPr>
            <a:r>
              <a:rPr lang="en-US" sz="1800">
                <a:solidFill>
                  <a:srgbClr val="693B9E"/>
                </a:solidFill>
                <a:latin typeface="OCR A Extended"/>
                <a:ea typeface="Comic Sans MS"/>
                <a:cs typeface="Comic Sans MS"/>
              </a:rPr>
              <a:t>e.g. hg19→GRCh37 logged medium confidence - a transformation was applied.</a:t>
            </a:r>
            <a:endParaRPr sz="1400">
              <a:solidFill>
                <a:srgbClr val="693B9E"/>
              </a:solidFill>
              <a:latin typeface="OCR A Extended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215740" name="Google Shape;185;p12"/>
          <p:cNvSpPr/>
          <p:nvPr/>
        </p:nvSpPr>
        <p:spPr bwMode="auto">
          <a:xfrm>
            <a:off x="640080" y="438912"/>
            <a:ext cx="10908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1200"/>
              <a:buFont typeface="Arial"/>
              <a:buNone/>
              <a:defRPr/>
            </a:pPr>
            <a:r>
              <a:rPr lang="en-US" sz="1200" b="1">
                <a:solidFill>
                  <a:srgbClr val="6C3FA0"/>
                </a:solidFill>
                <a:latin typeface="Arial"/>
                <a:ea typeface="Arial"/>
                <a:cs typeface="Arial"/>
              </a:rPr>
              <a:t>WHAT'S NEXT?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719247" name="Google Shape;186;p12"/>
          <p:cNvSpPr/>
          <p:nvPr/>
        </p:nvSpPr>
        <p:spPr bwMode="auto">
          <a:xfrm>
            <a:off x="640080" y="73152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1B3D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rgbClr val="2B1B3D"/>
                </a:solidFill>
                <a:latin typeface="Arial"/>
                <a:ea typeface="Arial"/>
                <a:cs typeface="Arial"/>
              </a:rPr>
              <a:t>A proven method, with a clear path to scale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8110744" name="Google Shape;187;p12"/>
          <p:cNvSpPr/>
          <p:nvPr/>
        </p:nvSpPr>
        <p:spPr bwMode="auto">
          <a:xfrm>
            <a:off x="640080" y="196596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1800"/>
              <a:buFont typeface="Arial"/>
              <a:buChar char="•"/>
              <a:defRPr/>
            </a:pPr>
            <a:r>
              <a:rPr lang="en-US" sz="1800">
                <a:solidFill>
                  <a:srgbClr val="2E2438"/>
                </a:solidFill>
                <a:latin typeface="Arial"/>
                <a:ea typeface="Arial"/>
                <a:cs typeface="Arial"/>
              </a:rPr>
              <a:t>Connect the automatic reading of storage directly to the standardisation step, removing manual work.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2438"/>
              </a:buClr>
              <a:buSzPts val="1800"/>
              <a:buFont typeface="Arial"/>
              <a:buChar char="•"/>
              <a:defRPr/>
            </a:pPr>
            <a:r>
              <a:rPr lang="en-US" sz="1800">
                <a:solidFill>
                  <a:srgbClr val="2E2438"/>
                </a:solidFill>
                <a:latin typeface="Arial"/>
                <a:ea typeface="Arial"/>
                <a:cs typeface="Arial"/>
              </a:rPr>
              <a:t>Load the standardised data into DPUK's shared search system so it's genuinely discoverable.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2438"/>
              </a:buClr>
              <a:buSzPts val="1800"/>
              <a:buFont typeface="Arial"/>
              <a:buChar char="•"/>
              <a:defRPr/>
            </a:pPr>
            <a:r>
              <a:rPr lang="en-US" sz="1800">
                <a:solidFill>
                  <a:srgbClr val="2E2438"/>
                </a:solidFill>
                <a:latin typeface="Arial"/>
                <a:ea typeface="Arial"/>
                <a:cs typeface="Arial"/>
              </a:rPr>
              <a:t>Extend the same proven method across the remaining data types.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290665" name="Google Shape;188;p12"/>
          <p:cNvSpPr/>
          <p:nvPr/>
        </p:nvSpPr>
        <p:spPr bwMode="auto">
          <a:xfrm>
            <a:off x="1234440" y="3911492"/>
            <a:ext cx="9784079" cy="1720823"/>
          </a:xfrm>
          <a:prstGeom prst="roundRect">
            <a:avLst>
              <a:gd name="adj" fmla="val 3750"/>
            </a:avLst>
          </a:prstGeom>
          <a:solidFill>
            <a:srgbClr val="F4EEF8"/>
          </a:solidFill>
          <a:ln w="12700" cap="flat" cmpd="sng">
            <a:solidFill>
              <a:srgbClr val="DED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6039215" name="Google Shape;189;p12"/>
          <p:cNvSpPr/>
          <p:nvPr/>
        </p:nvSpPr>
        <p:spPr bwMode="auto">
          <a:xfrm>
            <a:off x="4822423" y="4023360"/>
            <a:ext cx="197721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00"/>
              <a:buFont typeface="Arial"/>
              <a:buNone/>
              <a:defRPr/>
            </a:pPr>
            <a:r>
              <a:rPr lang="en-US" sz="2000" b="1">
                <a:solidFill>
                  <a:srgbClr val="6B6478"/>
                </a:solidFill>
                <a:latin typeface="Arial"/>
                <a:ea typeface="Arial"/>
                <a:cs typeface="Arial"/>
              </a:rPr>
              <a:t>In summary,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065309" name="Google Shape;190;p12"/>
          <p:cNvSpPr/>
          <p:nvPr/>
        </p:nvSpPr>
        <p:spPr bwMode="auto">
          <a:xfrm>
            <a:off x="1415472" y="4517622"/>
            <a:ext cx="9358008" cy="1126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438"/>
              </a:buClr>
              <a:buSzPts val="1800"/>
              <a:buFont typeface="Arial"/>
              <a:buNone/>
              <a:defRPr/>
            </a:pPr>
            <a:r>
              <a:rPr lang="en-US" sz="1800">
                <a:solidFill>
                  <a:srgbClr val="2E2438"/>
                </a:solidFill>
                <a:latin typeface="Arial"/>
                <a:ea typeface="Arial"/>
                <a:cs typeface="Arial"/>
              </a:rPr>
              <a:t>A working, tested method for turning fragmented data into a shared resource with real results and a clear next step.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3235035" name="Google Shape;202;p10"/>
          <p:cNvSpPr/>
          <p:nvPr/>
        </p:nvSpPr>
        <p:spPr bwMode="auto">
          <a:xfrm>
            <a:off x="11759184" y="-10274"/>
            <a:ext cx="429768" cy="6858000"/>
          </a:xfrm>
          <a:prstGeom prst="rect">
            <a:avLst/>
          </a:prstGeom>
          <a:solidFill>
            <a:srgbClr val="F4EE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56506" name="Google Shape;199;p13"/>
          <p:cNvSpPr/>
          <p:nvPr/>
        </p:nvSpPr>
        <p:spPr bwMode="auto">
          <a:xfrm>
            <a:off x="838200" y="2667000"/>
            <a:ext cx="10515600" cy="1279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FA0"/>
              </a:buClr>
              <a:buSzPts val="4400"/>
              <a:buFont typeface="Arial"/>
              <a:buNone/>
              <a:defRPr/>
            </a:pPr>
            <a:r>
              <a:rPr lang="en-US" sz="6000" b="1" i="1">
                <a:solidFill>
                  <a:srgbClr val="F4EEF8"/>
                </a:solidFill>
                <a:latin typeface="OCR A Extended"/>
              </a:rPr>
              <a:t>Thank you for listening!</a:t>
            </a:r>
            <a:endParaRPr sz="6000">
              <a:solidFill>
                <a:srgbClr val="F4EEF8"/>
              </a:solidFill>
              <a:latin typeface="OCR A Extended"/>
            </a:endParaRPr>
          </a:p>
        </p:txBody>
      </p:sp>
      <p:pic>
        <p:nvPicPr>
          <p:cNvPr id="1317573067" name="Google Shape;20;p4"/>
          <p:cNvPicPr/>
          <p:nvPr/>
        </p:nvPicPr>
        <p:blipFill rotWithShape="1">
          <a:blip r:embed="rId4">
            <a:alphaModFix/>
            <a:lum bright="70000" contrast="-70000"/>
          </a:blip>
          <a:srcRect l="0" t="0" r="29819" b="0"/>
          <a:stretch/>
        </p:blipFill>
        <p:spPr bwMode="auto">
          <a:xfrm>
            <a:off x="9678262" y="342951"/>
            <a:ext cx="1982909" cy="592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/>
  <cp:revision>31</cp:revision>
  <dcterms:modified xsi:type="dcterms:W3CDTF">2026-09-16T15:26:33Z</dcterms:modified>
</cp:coreProperties>
</file>